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 id="259" r:id="rId3"/>
    <p:sldId id="260" r:id="rId4"/>
    <p:sldId id="266" r:id="rId5"/>
    <p:sldId id="267" r:id="rId6"/>
    <p:sldId id="261" r:id="rId7"/>
    <p:sldId id="265" r:id="rId8"/>
    <p:sldId id="264" r:id="rId9"/>
    <p:sldId id="262" r:id="rId10"/>
    <p:sldId id="263"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0" d="100"/>
          <a:sy n="70" d="100"/>
        </p:scale>
        <p:origin x="536" y="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40F8F4D-D638-406D-9636-15759F9C193C}" type="datetimeFigureOut">
              <a:rPr lang="en-IN" smtClean="0"/>
              <a:t>08-04-2025</a:t>
            </a:fld>
            <a:endParaRPr lang="en-IN" dirty="0"/>
          </a:p>
        </p:txBody>
      </p:sp>
      <p:sp>
        <p:nvSpPr>
          <p:cNvPr id="5" name="Footer Placeholder 4"/>
          <p:cNvSpPr>
            <a:spLocks noGrp="1"/>
          </p:cNvSpPr>
          <p:nvPr>
            <p:ph type="ftr" sz="quarter" idx="11"/>
          </p:nvPr>
        </p:nvSpPr>
        <p:spPr>
          <a:xfrm>
            <a:off x="2416500" y="329307"/>
            <a:ext cx="4973915" cy="309201"/>
          </a:xfrm>
        </p:spPr>
        <p:txBody>
          <a:bodyPr/>
          <a:lstStyle/>
          <a:p>
            <a:endParaRPr lang="en-IN" dirty="0"/>
          </a:p>
        </p:txBody>
      </p:sp>
      <p:sp>
        <p:nvSpPr>
          <p:cNvPr id="6" name="Slide Number Placeholder 5"/>
          <p:cNvSpPr>
            <a:spLocks noGrp="1"/>
          </p:cNvSpPr>
          <p:nvPr>
            <p:ph type="sldNum" sz="quarter" idx="12"/>
          </p:nvPr>
        </p:nvSpPr>
        <p:spPr>
          <a:xfrm>
            <a:off x="1437664" y="798973"/>
            <a:ext cx="811019" cy="503578"/>
          </a:xfrm>
        </p:spPr>
        <p:txBody>
          <a:bodyPr/>
          <a:lstStyle/>
          <a:p>
            <a:fld id="{02B5525F-1988-4332-8C42-E68B3174E500}" type="slidenum">
              <a:rPr lang="en-IN" smtClean="0"/>
              <a:t>‹#›</a:t>
            </a:fld>
            <a:endParaRPr lang="en-IN" dirty="0"/>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564859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0F8F4D-D638-406D-9636-15759F9C193C}" type="datetimeFigureOut">
              <a:rPr lang="en-IN" smtClean="0"/>
              <a:t>08-04-2025</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02B5525F-1988-4332-8C42-E68B3174E500}" type="slidenum">
              <a:rPr lang="en-IN" smtClean="0"/>
              <a:t>‹#›</a:t>
            </a:fld>
            <a:endParaRPr lang="en-IN" dirty="0"/>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0512238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40F8F4D-D638-406D-9636-15759F9C193C}" type="datetimeFigureOut">
              <a:rPr lang="en-IN" smtClean="0"/>
              <a:t>08-04-2025</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02B5525F-1988-4332-8C42-E68B3174E500}" type="slidenum">
              <a:rPr lang="en-IN" smtClean="0"/>
              <a:t>‹#›</a:t>
            </a:fld>
            <a:endParaRPr lang="en-IN" dirty="0"/>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624919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40F8F4D-D638-406D-9636-15759F9C193C}" type="datetimeFigureOut">
              <a:rPr lang="en-IN" smtClean="0"/>
              <a:t>08-04-2025</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02B5525F-1988-4332-8C42-E68B3174E500}" type="slidenum">
              <a:rPr lang="en-IN" smtClean="0"/>
              <a:t>‹#›</a:t>
            </a:fld>
            <a:endParaRPr lang="en-IN" dirty="0"/>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1410989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40F8F4D-D638-406D-9636-15759F9C193C}" type="datetimeFigureOut">
              <a:rPr lang="en-IN" smtClean="0"/>
              <a:t>08-04-2025</a:t>
            </a:fld>
            <a:endParaRPr lang="en-IN" dirty="0"/>
          </a:p>
        </p:txBody>
      </p:sp>
      <p:sp>
        <p:nvSpPr>
          <p:cNvPr id="8" name="Footer Placeholder 7"/>
          <p:cNvSpPr>
            <a:spLocks noGrp="1"/>
          </p:cNvSpPr>
          <p:nvPr>
            <p:ph type="ftr" sz="quarter" idx="11"/>
          </p:nvPr>
        </p:nvSpPr>
        <p:spPr/>
        <p:txBody>
          <a:bodyPr/>
          <a:lstStyle/>
          <a:p>
            <a:endParaRPr lang="en-IN" dirty="0"/>
          </a:p>
        </p:txBody>
      </p:sp>
      <p:sp>
        <p:nvSpPr>
          <p:cNvPr id="9" name="Slide Number Placeholder 8"/>
          <p:cNvSpPr>
            <a:spLocks noGrp="1"/>
          </p:cNvSpPr>
          <p:nvPr>
            <p:ph type="sldNum" sz="quarter" idx="12"/>
          </p:nvPr>
        </p:nvSpPr>
        <p:spPr/>
        <p:txBody>
          <a:bodyPr/>
          <a:lstStyle/>
          <a:p>
            <a:fld id="{02B5525F-1988-4332-8C42-E68B3174E500}" type="slidenum">
              <a:rPr lang="en-IN" smtClean="0"/>
              <a:t>‹#›</a:t>
            </a:fld>
            <a:endParaRPr lang="en-IN" dirty="0"/>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970579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40F8F4D-D638-406D-9636-15759F9C193C}" type="datetimeFigureOut">
              <a:rPr lang="en-IN" smtClean="0"/>
              <a:t>08-04-2025</a:t>
            </a:fld>
            <a:endParaRPr lang="en-IN" dirty="0"/>
          </a:p>
        </p:txBody>
      </p:sp>
      <p:sp>
        <p:nvSpPr>
          <p:cNvPr id="4" name="Footer Placeholder 3"/>
          <p:cNvSpPr>
            <a:spLocks noGrp="1"/>
          </p:cNvSpPr>
          <p:nvPr>
            <p:ph type="ftr" sz="quarter" idx="11"/>
          </p:nvPr>
        </p:nvSpPr>
        <p:spPr/>
        <p:txBody>
          <a:bodyPr/>
          <a:lstStyle/>
          <a:p>
            <a:endParaRPr lang="en-IN" dirty="0"/>
          </a:p>
        </p:txBody>
      </p:sp>
      <p:sp>
        <p:nvSpPr>
          <p:cNvPr id="5" name="Slide Number Placeholder 4"/>
          <p:cNvSpPr>
            <a:spLocks noGrp="1"/>
          </p:cNvSpPr>
          <p:nvPr>
            <p:ph type="sldNum" sz="quarter" idx="12"/>
          </p:nvPr>
        </p:nvSpPr>
        <p:spPr/>
        <p:txBody>
          <a:bodyPr/>
          <a:lstStyle/>
          <a:p>
            <a:fld id="{02B5525F-1988-4332-8C42-E68B3174E500}" type="slidenum">
              <a:rPr lang="en-IN" smtClean="0"/>
              <a:t>‹#›</a:t>
            </a:fld>
            <a:endParaRPr lang="en-IN" dirty="0"/>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628496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0F8F4D-D638-406D-9636-15759F9C193C}" type="datetimeFigureOut">
              <a:rPr lang="en-IN" smtClean="0"/>
              <a:t>08-04-2025</a:t>
            </a:fld>
            <a:endParaRPr lang="en-IN" dirty="0"/>
          </a:p>
        </p:txBody>
      </p:sp>
      <p:sp>
        <p:nvSpPr>
          <p:cNvPr id="3" name="Footer Placeholder 2"/>
          <p:cNvSpPr>
            <a:spLocks noGrp="1"/>
          </p:cNvSpPr>
          <p:nvPr>
            <p:ph type="ftr" sz="quarter" idx="11"/>
          </p:nvPr>
        </p:nvSpPr>
        <p:spPr/>
        <p:txBody>
          <a:bodyPr/>
          <a:lstStyle/>
          <a:p>
            <a:endParaRPr lang="en-IN" dirty="0"/>
          </a:p>
        </p:txBody>
      </p:sp>
      <p:sp>
        <p:nvSpPr>
          <p:cNvPr id="4" name="Slide Number Placeholder 3"/>
          <p:cNvSpPr>
            <a:spLocks noGrp="1"/>
          </p:cNvSpPr>
          <p:nvPr>
            <p:ph type="sldNum" sz="quarter" idx="12"/>
          </p:nvPr>
        </p:nvSpPr>
        <p:spPr/>
        <p:txBody>
          <a:bodyPr/>
          <a:lstStyle/>
          <a:p>
            <a:fld id="{02B5525F-1988-4332-8C42-E68B3174E500}" type="slidenum">
              <a:rPr lang="en-IN" smtClean="0"/>
              <a:t>‹#›</a:t>
            </a:fld>
            <a:endParaRPr lang="en-IN" dirty="0"/>
          </a:p>
        </p:txBody>
      </p:sp>
    </p:spTree>
    <p:extLst>
      <p:ext uri="{BB962C8B-B14F-4D97-AF65-F5344CB8AC3E}">
        <p14:creationId xmlns:p14="http://schemas.microsoft.com/office/powerpoint/2010/main" val="42452156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40F8F4D-D638-406D-9636-15759F9C193C}" type="datetimeFigureOut">
              <a:rPr lang="en-IN" smtClean="0"/>
              <a:t>08-04-2025</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02B5525F-1988-4332-8C42-E68B3174E500}" type="slidenum">
              <a:rPr lang="en-IN" smtClean="0"/>
              <a:t>‹#›</a:t>
            </a:fld>
            <a:endParaRPr lang="en-IN" dirty="0"/>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3647564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540F8F4D-D638-406D-9636-15759F9C193C}" type="datetimeFigureOut">
              <a:rPr lang="en-IN" smtClean="0"/>
              <a:t>08-04-2025</a:t>
            </a:fld>
            <a:endParaRPr lang="en-IN" dirty="0"/>
          </a:p>
        </p:txBody>
      </p:sp>
      <p:sp>
        <p:nvSpPr>
          <p:cNvPr id="6" name="Footer Placeholder 5"/>
          <p:cNvSpPr>
            <a:spLocks noGrp="1"/>
          </p:cNvSpPr>
          <p:nvPr>
            <p:ph type="ftr" sz="quarter" idx="11"/>
          </p:nvPr>
        </p:nvSpPr>
        <p:spPr>
          <a:xfrm>
            <a:off x="1447382" y="318640"/>
            <a:ext cx="5541004" cy="320931"/>
          </a:xfrm>
        </p:spPr>
        <p:txBody>
          <a:bodyPr/>
          <a:lstStyle/>
          <a:p>
            <a:endParaRPr lang="en-IN" dirty="0"/>
          </a:p>
        </p:txBody>
      </p:sp>
      <p:sp>
        <p:nvSpPr>
          <p:cNvPr id="7" name="Slide Number Placeholder 6"/>
          <p:cNvSpPr>
            <a:spLocks noGrp="1"/>
          </p:cNvSpPr>
          <p:nvPr>
            <p:ph type="sldNum" sz="quarter" idx="12"/>
          </p:nvPr>
        </p:nvSpPr>
        <p:spPr/>
        <p:txBody>
          <a:bodyPr/>
          <a:lstStyle/>
          <a:p>
            <a:fld id="{02B5525F-1988-4332-8C42-E68B3174E500}" type="slidenum">
              <a:rPr lang="en-IN" smtClean="0"/>
              <a:t>‹#›</a:t>
            </a:fld>
            <a:endParaRPr lang="en-IN" dirty="0"/>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591012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0F8F4D-D638-406D-9636-15759F9C193C}" type="datetimeFigureOut">
              <a:rPr lang="en-IN" smtClean="0"/>
              <a:t>08-04-2025</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02B5525F-1988-4332-8C42-E68B3174E500}" type="slidenum">
              <a:rPr lang="en-IN" smtClean="0"/>
              <a:t>‹#›</a:t>
            </a:fld>
            <a:endParaRPr lang="en-IN" dirty="0"/>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355162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0F8F4D-D638-406D-9636-15759F9C193C}" type="datetimeFigureOut">
              <a:rPr lang="en-IN" smtClean="0"/>
              <a:t>08-04-2025</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02B5525F-1988-4332-8C42-E68B3174E500}" type="slidenum">
              <a:rPr lang="en-IN" smtClean="0"/>
              <a:t>‹#›</a:t>
            </a:fld>
            <a:endParaRPr lang="en-IN" dirty="0"/>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8113055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540F8F4D-D638-406D-9636-15759F9C193C}" type="datetimeFigureOut">
              <a:rPr lang="en-IN" smtClean="0"/>
              <a:t>08-04-2025</a:t>
            </a:fld>
            <a:endParaRPr lang="en-IN" dirty="0"/>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IN" dirty="0"/>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02B5525F-1988-4332-8C42-E68B3174E500}" type="slidenum">
              <a:rPr lang="en-IN" smtClean="0"/>
              <a:t>‹#›</a:t>
            </a:fld>
            <a:endParaRPr lang="en-IN" dirty="0"/>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422117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035F49-D76D-B6C2-9D7A-BAA92A4484DF}"/>
              </a:ext>
            </a:extLst>
          </p:cNvPr>
          <p:cNvSpPr txBox="1"/>
          <p:nvPr/>
        </p:nvSpPr>
        <p:spPr>
          <a:xfrm>
            <a:off x="4371213" y="137160"/>
            <a:ext cx="3449574" cy="646331"/>
          </a:xfrm>
          <a:prstGeom prst="rect">
            <a:avLst/>
          </a:prstGeom>
          <a:noFill/>
        </p:spPr>
        <p:txBody>
          <a:bodyPr wrap="square" rtlCol="0">
            <a:spAutoFit/>
          </a:bodyPr>
          <a:lstStyle/>
          <a:p>
            <a:pPr algn="ctr"/>
            <a:r>
              <a:rPr lang="en-IN" sz="3600" u="sng" dirty="0">
                <a:latin typeface="Calibri" panose="020F0502020204030204" pitchFamily="34" charset="0"/>
                <a:ea typeface="Calibri" panose="020F0502020204030204" pitchFamily="34" charset="0"/>
                <a:cs typeface="Calibri" panose="020F0502020204030204" pitchFamily="34" charset="0"/>
              </a:rPr>
              <a:t>BRIEF HISTORY</a:t>
            </a:r>
          </a:p>
        </p:txBody>
      </p:sp>
      <p:sp>
        <p:nvSpPr>
          <p:cNvPr id="3" name="TextBox 2">
            <a:extLst>
              <a:ext uri="{FF2B5EF4-FFF2-40B4-BE49-F238E27FC236}">
                <a16:creationId xmlns:a16="http://schemas.microsoft.com/office/drawing/2014/main" id="{6A7EB60E-BED8-5BE7-8035-D9E9AD7B6E70}"/>
              </a:ext>
            </a:extLst>
          </p:cNvPr>
          <p:cNvSpPr txBox="1"/>
          <p:nvPr/>
        </p:nvSpPr>
        <p:spPr>
          <a:xfrm>
            <a:off x="1117092" y="783491"/>
            <a:ext cx="9957816" cy="5355312"/>
          </a:xfrm>
          <a:prstGeom prst="rect">
            <a:avLst/>
          </a:prstGeom>
          <a:noFill/>
        </p:spPr>
        <p:txBody>
          <a:bodyPr wrap="square" rtlCol="0">
            <a:spAutoFit/>
          </a:bodyPr>
          <a:lstStyle/>
          <a:p>
            <a:r>
              <a:rPr lang="en-US" dirty="0">
                <a:latin typeface="Calibri" panose="020F0502020204030204" pitchFamily="34" charset="0"/>
                <a:ea typeface="Calibri" panose="020F0502020204030204" pitchFamily="34" charset="0"/>
                <a:cs typeface="Calibri" panose="020F0502020204030204" pitchFamily="34" charset="0"/>
              </a:rPr>
              <a:t>A</a:t>
            </a:r>
            <a:r>
              <a:rPr lang="en-US" b="0" i="0" dirty="0">
                <a:effectLst/>
                <a:latin typeface="Calibri" panose="020F0502020204030204" pitchFamily="34" charset="0"/>
                <a:ea typeface="Calibri" panose="020F0502020204030204" pitchFamily="34" charset="0"/>
                <a:cs typeface="Calibri" panose="020F0502020204030204" pitchFamily="34" charset="0"/>
              </a:rPr>
              <a:t> computer understands and executes instructions represented in binary code, which consists of only 0s and 1s, also known as </a:t>
            </a:r>
            <a:r>
              <a:rPr lang="en-US" b="1" i="0" dirty="0">
                <a:effectLst/>
                <a:latin typeface="Calibri" panose="020F0502020204030204" pitchFamily="34" charset="0"/>
                <a:ea typeface="Calibri" panose="020F0502020204030204" pitchFamily="34" charset="0"/>
                <a:cs typeface="Calibri" panose="020F0502020204030204" pitchFamily="34" charset="0"/>
              </a:rPr>
              <a:t>machine language</a:t>
            </a:r>
            <a:r>
              <a:rPr lang="en-US" b="0" i="0" dirty="0">
                <a:effectLst/>
                <a:latin typeface="Calibri" panose="020F0502020204030204" pitchFamily="34" charset="0"/>
                <a:ea typeface="Calibri" panose="020F0502020204030204" pitchFamily="34" charset="0"/>
                <a:cs typeface="Calibri" panose="020F0502020204030204" pitchFamily="34" charset="0"/>
              </a:rPr>
              <a:t>. </a:t>
            </a:r>
            <a:r>
              <a:rPr lang="en-US" dirty="0">
                <a:latin typeface="Calibri" panose="020F0502020204030204" pitchFamily="34" charset="0"/>
                <a:ea typeface="Calibri" panose="020F0502020204030204" pitchFamily="34" charset="0"/>
                <a:cs typeface="Calibri" panose="020F0502020204030204" pitchFamily="34" charset="0"/>
              </a:rPr>
              <a:t>T</a:t>
            </a:r>
            <a:r>
              <a:rPr lang="en-US" b="0" i="0" dirty="0">
                <a:effectLst/>
                <a:latin typeface="Calibri" panose="020F0502020204030204" pitchFamily="34" charset="0"/>
                <a:ea typeface="Calibri" panose="020F0502020204030204" pitchFamily="34" charset="0"/>
                <a:cs typeface="Calibri" panose="020F0502020204030204" pitchFamily="34" charset="0"/>
              </a:rPr>
              <a:t>he first programming languages were, in fact, machine language, also known as 1GL (First-generation language - directly understood by the processor). </a:t>
            </a:r>
          </a:p>
          <a:p>
            <a:r>
              <a:rPr lang="en-US" b="0" i="0" dirty="0">
                <a:effectLst/>
                <a:latin typeface="Calibri" panose="020F0502020204030204" pitchFamily="34" charset="0"/>
                <a:ea typeface="Calibri" panose="020F0502020204030204" pitchFamily="34" charset="0"/>
                <a:cs typeface="Calibri" panose="020F0502020204030204" pitchFamily="34" charset="0"/>
              </a:rPr>
              <a:t>The earliest computers were programmed using machine language, which was very difficult to debug and not portable between different systems.</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Thus, the </a:t>
            </a:r>
            <a:r>
              <a:rPr lang="en-US" b="1" dirty="0">
                <a:latin typeface="Calibri" panose="020F0502020204030204" pitchFamily="34" charset="0"/>
                <a:ea typeface="Calibri" panose="020F0502020204030204" pitchFamily="34" charset="0"/>
                <a:cs typeface="Calibri" panose="020F0502020204030204" pitchFamily="34" charset="0"/>
              </a:rPr>
              <a:t>assembly language</a:t>
            </a:r>
            <a:r>
              <a:rPr lang="en-US" dirty="0">
                <a:latin typeface="Calibri" panose="020F0502020204030204" pitchFamily="34" charset="0"/>
                <a:ea typeface="Calibri" panose="020F0502020204030204" pitchFamily="34" charset="0"/>
                <a:cs typeface="Calibri" panose="020F0502020204030204" pitchFamily="34" charset="0"/>
              </a:rPr>
              <a:t> was developed (which is a more human-readable way to write machine-level instructions), along with a language translator called the assembler, which converts assembly language into machine language. However, writing code in assembly language can be very tedious and time-consuming because the instructions are low-level and closely tied to the architecture of the hardware. It requires detailed management of memory, registers, and hardware-specific operations. It is platform-dependent. Code written for one type of processor cannot run on another without significant modification. This lack of portability makes it difficult to develop software that can run on different platforms.</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To address the above mentioned drawbacks of assembly language </a:t>
            </a:r>
            <a:r>
              <a:rPr lang="en-US" b="0" i="0" dirty="0">
                <a:solidFill>
                  <a:srgbClr val="001D35"/>
                </a:solidFill>
                <a:effectLst/>
                <a:latin typeface="Calibri" panose="020F0502020204030204" pitchFamily="34" charset="0"/>
                <a:ea typeface="Calibri" panose="020F0502020204030204" pitchFamily="34" charset="0"/>
                <a:cs typeface="Calibri" panose="020F0502020204030204" pitchFamily="34" charset="0"/>
              </a:rPr>
              <a:t>like complexity and lack of portability, </a:t>
            </a:r>
            <a:r>
              <a:rPr lang="en-US" dirty="0">
                <a:latin typeface="Calibri" panose="020F0502020204030204" pitchFamily="34" charset="0"/>
                <a:ea typeface="Calibri" panose="020F0502020204030204" pitchFamily="34" charset="0"/>
                <a:cs typeface="Calibri" panose="020F0502020204030204" pitchFamily="34" charset="0"/>
              </a:rPr>
              <a:t>programmers and developers often use </a:t>
            </a:r>
            <a:r>
              <a:rPr lang="en-US" b="1" dirty="0">
                <a:latin typeface="Calibri" panose="020F0502020204030204" pitchFamily="34" charset="0"/>
                <a:ea typeface="Calibri" panose="020F0502020204030204" pitchFamily="34" charset="0"/>
                <a:cs typeface="Calibri" panose="020F0502020204030204" pitchFamily="34" charset="0"/>
              </a:rPr>
              <a:t>high-level programming languages</a:t>
            </a:r>
            <a:r>
              <a:rPr lang="en-US" b="0" i="0" dirty="0">
                <a:solidFill>
                  <a:srgbClr val="001D35"/>
                </a:solidFill>
                <a:effectLst/>
                <a:latin typeface="Calibri" panose="020F0502020204030204" pitchFamily="34" charset="0"/>
                <a:ea typeface="Calibri" panose="020F0502020204030204" pitchFamily="34" charset="0"/>
                <a:cs typeface="Calibri" panose="020F0502020204030204" pitchFamily="34" charset="0"/>
              </a:rPr>
              <a:t> (e.g., C, C++, Python), which offer abstraction, readability, and portability, while assembly language remains crucial for low-level tasks and performance-critical applications. </a:t>
            </a:r>
            <a:endParaRPr lang="en-US"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741811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E9814-68DE-0FC2-27DF-3D4AD40796F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C05E80B-E475-21CC-2C4E-9EECFC9BE43C}"/>
              </a:ext>
            </a:extLst>
          </p:cNvPr>
          <p:cNvSpPr txBox="1"/>
          <p:nvPr/>
        </p:nvSpPr>
        <p:spPr>
          <a:xfrm>
            <a:off x="1464754" y="87975"/>
            <a:ext cx="9262491" cy="646331"/>
          </a:xfrm>
          <a:prstGeom prst="rect">
            <a:avLst/>
          </a:prstGeom>
          <a:noFill/>
        </p:spPr>
        <p:txBody>
          <a:bodyPr wrap="square" rtlCol="0">
            <a:spAutoFit/>
          </a:bodyPr>
          <a:lstStyle/>
          <a:p>
            <a:pPr algn="ctr"/>
            <a:r>
              <a:rPr lang="en-IN" sz="3600" u="sng" dirty="0">
                <a:latin typeface="Calibri" panose="020F0502020204030204" pitchFamily="34" charset="0"/>
                <a:ea typeface="Calibri" panose="020F0502020204030204" pitchFamily="34" charset="0"/>
                <a:cs typeface="Calibri" panose="020F0502020204030204" pitchFamily="34" charset="0"/>
              </a:rPr>
              <a:t>EMERGENCE OF COMPILERS AND INTERPRETERS</a:t>
            </a:r>
          </a:p>
        </p:txBody>
      </p:sp>
      <p:sp>
        <p:nvSpPr>
          <p:cNvPr id="3" name="TextBox 2">
            <a:extLst>
              <a:ext uri="{FF2B5EF4-FFF2-40B4-BE49-F238E27FC236}">
                <a16:creationId xmlns:a16="http://schemas.microsoft.com/office/drawing/2014/main" id="{2583D7CF-29C2-ED1E-7EE5-DB1799CA195F}"/>
              </a:ext>
            </a:extLst>
          </p:cNvPr>
          <p:cNvSpPr txBox="1"/>
          <p:nvPr/>
        </p:nvSpPr>
        <p:spPr>
          <a:xfrm>
            <a:off x="1117091" y="1166842"/>
            <a:ext cx="9957816" cy="4524315"/>
          </a:xfrm>
          <a:prstGeom prst="rect">
            <a:avLst/>
          </a:prstGeom>
          <a:noFill/>
        </p:spPr>
        <p:txBody>
          <a:bodyPr wrap="square" rtlCol="0">
            <a:spAutoFit/>
          </a:bodyPr>
          <a:lstStyle/>
          <a:p>
            <a:r>
              <a:rPr lang="en-US" dirty="0">
                <a:latin typeface="Calibri" panose="020F0502020204030204" pitchFamily="34" charset="0"/>
                <a:ea typeface="Calibri" panose="020F0502020204030204" pitchFamily="34" charset="0"/>
                <a:cs typeface="Calibri" panose="020F0502020204030204" pitchFamily="34" charset="0"/>
              </a:rPr>
              <a:t>With the emergence of high-level programming languages, there was a need for a language translator which can convert the high-level language to assembly language, which is then converted by an assembler to machine language.</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This language translator which can convert the high-level language to assembly language is basically the </a:t>
            </a:r>
            <a:r>
              <a:rPr lang="en-US" b="1" dirty="0">
                <a:latin typeface="Calibri" panose="020F0502020204030204" pitchFamily="34" charset="0"/>
                <a:ea typeface="Calibri" panose="020F0502020204030204" pitchFamily="34" charset="0"/>
                <a:cs typeface="Calibri" panose="020F0502020204030204" pitchFamily="34" charset="0"/>
              </a:rPr>
              <a:t>compiler</a:t>
            </a:r>
            <a:r>
              <a:rPr lang="en-US" dirty="0">
                <a:latin typeface="Calibri" panose="020F0502020204030204" pitchFamily="34" charset="0"/>
                <a:ea typeface="Calibri" panose="020F0502020204030204" pitchFamily="34" charset="0"/>
                <a:cs typeface="Calibri" panose="020F0502020204030204" pitchFamily="34" charset="0"/>
              </a:rPr>
              <a:t>.</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On the other hand, there is another type of language translator which differs from the compiler in the sense that it directly executes high-level code line by line without generating intermediate assembly or machine code files. It reads one line (or statement) of high-level code, converts it directly into machine instructions in memory and executes the machine instructions immediately. This process is then repeated for the next lines of code until the whole program is executed. This type of language translator is known as the </a:t>
            </a:r>
            <a:r>
              <a:rPr lang="en-US" b="1" dirty="0">
                <a:latin typeface="Calibri" panose="020F0502020204030204" pitchFamily="34" charset="0"/>
                <a:ea typeface="Calibri" panose="020F0502020204030204" pitchFamily="34" charset="0"/>
                <a:cs typeface="Calibri" panose="020F0502020204030204" pitchFamily="34" charset="0"/>
              </a:rPr>
              <a:t>interpreter</a:t>
            </a:r>
            <a:r>
              <a:rPr lang="en-US" dirty="0">
                <a:latin typeface="Calibri" panose="020F0502020204030204" pitchFamily="34" charset="0"/>
                <a:ea typeface="Calibri" panose="020F0502020204030204" pitchFamily="34" charset="0"/>
                <a:cs typeface="Calibri" panose="020F0502020204030204" pitchFamily="34" charset="0"/>
              </a:rPr>
              <a:t>.</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Now let’s talk in detail about these two primary types of language translators – compilers and interpreters.</a:t>
            </a:r>
          </a:p>
        </p:txBody>
      </p:sp>
    </p:spTree>
    <p:extLst>
      <p:ext uri="{BB962C8B-B14F-4D97-AF65-F5344CB8AC3E}">
        <p14:creationId xmlns:p14="http://schemas.microsoft.com/office/powerpoint/2010/main" val="37981736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79F61-8026-6A0E-9F05-FF1FB752DFB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14EE7D2-B060-D284-1981-95E34B3AFFF5}"/>
              </a:ext>
            </a:extLst>
          </p:cNvPr>
          <p:cNvSpPr txBox="1"/>
          <p:nvPr/>
        </p:nvSpPr>
        <p:spPr>
          <a:xfrm>
            <a:off x="1464753" y="0"/>
            <a:ext cx="9262491" cy="646331"/>
          </a:xfrm>
          <a:prstGeom prst="rect">
            <a:avLst/>
          </a:prstGeom>
          <a:noFill/>
        </p:spPr>
        <p:txBody>
          <a:bodyPr wrap="square" rtlCol="0">
            <a:spAutoFit/>
          </a:bodyPr>
          <a:lstStyle/>
          <a:p>
            <a:pPr algn="ctr"/>
            <a:r>
              <a:rPr lang="en-IN" sz="3600" u="sng" dirty="0">
                <a:latin typeface="Calibri" panose="020F0502020204030204" pitchFamily="34" charset="0"/>
                <a:ea typeface="Calibri" panose="020F0502020204030204" pitchFamily="34" charset="0"/>
                <a:cs typeface="Calibri" panose="020F0502020204030204" pitchFamily="34" charset="0"/>
              </a:rPr>
              <a:t>Basic Flow Chart – In a C Program</a:t>
            </a:r>
          </a:p>
        </p:txBody>
      </p:sp>
      <p:sp>
        <p:nvSpPr>
          <p:cNvPr id="4" name="Rectangle 3">
            <a:extLst>
              <a:ext uri="{FF2B5EF4-FFF2-40B4-BE49-F238E27FC236}">
                <a16:creationId xmlns:a16="http://schemas.microsoft.com/office/drawing/2014/main" id="{7ADB749A-56AD-66E7-CD73-00571A4126F0}"/>
              </a:ext>
            </a:extLst>
          </p:cNvPr>
          <p:cNvSpPr/>
          <p:nvPr/>
        </p:nvSpPr>
        <p:spPr>
          <a:xfrm>
            <a:off x="534924" y="1810512"/>
            <a:ext cx="2139696" cy="1042416"/>
          </a:xfrm>
          <a:prstGeom prst="rect">
            <a:avLst/>
          </a:prstGeom>
          <a:solidFill>
            <a:schemeClr val="accent5">
              <a:lumMod val="40000"/>
              <a:lumOff val="6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IN" sz="2000" dirty="0">
                <a:latin typeface="Calibri" panose="020F0502020204030204" pitchFamily="34" charset="0"/>
                <a:ea typeface="Calibri" panose="020F0502020204030204" pitchFamily="34" charset="0"/>
                <a:cs typeface="Calibri" panose="020F0502020204030204" pitchFamily="34" charset="0"/>
              </a:rPr>
              <a:t>PREPROCESSOR</a:t>
            </a:r>
          </a:p>
        </p:txBody>
      </p:sp>
      <p:sp>
        <p:nvSpPr>
          <p:cNvPr id="5" name="Rectangle 4">
            <a:extLst>
              <a:ext uri="{FF2B5EF4-FFF2-40B4-BE49-F238E27FC236}">
                <a16:creationId xmlns:a16="http://schemas.microsoft.com/office/drawing/2014/main" id="{9861AF24-6747-92B9-6EBD-F7E5C74A7E14}"/>
              </a:ext>
            </a:extLst>
          </p:cNvPr>
          <p:cNvSpPr/>
          <p:nvPr/>
        </p:nvSpPr>
        <p:spPr>
          <a:xfrm>
            <a:off x="9460799" y="4014217"/>
            <a:ext cx="2139696" cy="1042416"/>
          </a:xfrm>
          <a:prstGeom prst="rect">
            <a:avLst/>
          </a:prstGeom>
          <a:solidFill>
            <a:schemeClr val="accent5">
              <a:lumMod val="40000"/>
              <a:lumOff val="6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IN" sz="2000" dirty="0">
                <a:latin typeface="Calibri" panose="020F0502020204030204" pitchFamily="34" charset="0"/>
                <a:ea typeface="Calibri" panose="020F0502020204030204" pitchFamily="34" charset="0"/>
                <a:cs typeface="Calibri" panose="020F0502020204030204" pitchFamily="34" charset="0"/>
              </a:rPr>
              <a:t>LINKER / LOADER</a:t>
            </a:r>
          </a:p>
        </p:txBody>
      </p:sp>
      <p:sp>
        <p:nvSpPr>
          <p:cNvPr id="6" name="Rectangle 5">
            <a:extLst>
              <a:ext uri="{FF2B5EF4-FFF2-40B4-BE49-F238E27FC236}">
                <a16:creationId xmlns:a16="http://schemas.microsoft.com/office/drawing/2014/main" id="{6D5266D5-F081-A181-A713-E3A8070BCE12}"/>
              </a:ext>
            </a:extLst>
          </p:cNvPr>
          <p:cNvSpPr/>
          <p:nvPr/>
        </p:nvSpPr>
        <p:spPr>
          <a:xfrm>
            <a:off x="9460799" y="1801368"/>
            <a:ext cx="2139696" cy="1042416"/>
          </a:xfrm>
          <a:prstGeom prst="rect">
            <a:avLst/>
          </a:prstGeom>
          <a:solidFill>
            <a:schemeClr val="accent5">
              <a:lumMod val="40000"/>
              <a:lumOff val="6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IN" sz="2000" dirty="0">
                <a:latin typeface="Calibri" panose="020F0502020204030204" pitchFamily="34" charset="0"/>
                <a:ea typeface="Calibri" panose="020F0502020204030204" pitchFamily="34" charset="0"/>
                <a:cs typeface="Calibri" panose="020F0502020204030204" pitchFamily="34" charset="0"/>
              </a:rPr>
              <a:t>ASSEMBLER</a:t>
            </a:r>
            <a:endParaRPr lang="en-IN" dirty="0">
              <a:latin typeface="Calibri" panose="020F0502020204030204" pitchFamily="34" charset="0"/>
              <a:ea typeface="Calibri" panose="020F0502020204030204" pitchFamily="34" charset="0"/>
              <a:cs typeface="Calibri" panose="020F0502020204030204" pitchFamily="34" charset="0"/>
            </a:endParaRPr>
          </a:p>
        </p:txBody>
      </p:sp>
      <p:sp>
        <p:nvSpPr>
          <p:cNvPr id="7" name="Rectangle 6">
            <a:extLst>
              <a:ext uri="{FF2B5EF4-FFF2-40B4-BE49-F238E27FC236}">
                <a16:creationId xmlns:a16="http://schemas.microsoft.com/office/drawing/2014/main" id="{E7FE809E-3F5B-2A28-AE1D-DA14163B56AA}"/>
              </a:ext>
            </a:extLst>
          </p:cNvPr>
          <p:cNvSpPr/>
          <p:nvPr/>
        </p:nvSpPr>
        <p:spPr>
          <a:xfrm>
            <a:off x="5061205" y="1801368"/>
            <a:ext cx="2139696" cy="1042416"/>
          </a:xfrm>
          <a:prstGeom prst="rect">
            <a:avLst/>
          </a:prstGeom>
          <a:solidFill>
            <a:schemeClr val="accent5">
              <a:lumMod val="40000"/>
              <a:lumOff val="6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IN" sz="2000" dirty="0">
                <a:latin typeface="Calibri" panose="020F0502020204030204" pitchFamily="34" charset="0"/>
                <a:ea typeface="Calibri" panose="020F0502020204030204" pitchFamily="34" charset="0"/>
                <a:cs typeface="Calibri" panose="020F0502020204030204" pitchFamily="34" charset="0"/>
              </a:rPr>
              <a:t>COMPILER</a:t>
            </a:r>
            <a:endParaRPr lang="en-IN" dirty="0">
              <a:latin typeface="Calibri" panose="020F0502020204030204" pitchFamily="34" charset="0"/>
              <a:ea typeface="Calibri" panose="020F0502020204030204" pitchFamily="34" charset="0"/>
              <a:cs typeface="Calibri" panose="020F0502020204030204" pitchFamily="34" charset="0"/>
            </a:endParaRPr>
          </a:p>
        </p:txBody>
      </p:sp>
      <p:sp>
        <p:nvSpPr>
          <p:cNvPr id="8" name="TextBox 7">
            <a:extLst>
              <a:ext uri="{FF2B5EF4-FFF2-40B4-BE49-F238E27FC236}">
                <a16:creationId xmlns:a16="http://schemas.microsoft.com/office/drawing/2014/main" id="{816277B1-8C24-B96A-416A-D3C57CEE47C4}"/>
              </a:ext>
            </a:extLst>
          </p:cNvPr>
          <p:cNvSpPr txBox="1"/>
          <p:nvPr/>
        </p:nvSpPr>
        <p:spPr>
          <a:xfrm>
            <a:off x="457200" y="737771"/>
            <a:ext cx="2295144" cy="646331"/>
          </a:xfrm>
          <a:prstGeom prst="rect">
            <a:avLst/>
          </a:prstGeom>
          <a:noFill/>
        </p:spPr>
        <p:txBody>
          <a:bodyPr wrap="square" rtlCol="0">
            <a:spAutoFit/>
          </a:bodyPr>
          <a:lstStyle/>
          <a:p>
            <a:pPr algn="ctr"/>
            <a:r>
              <a:rPr lang="en-IN" dirty="0">
                <a:latin typeface="Calibri" panose="020F0502020204030204" pitchFamily="34" charset="0"/>
                <a:ea typeface="Calibri" panose="020F0502020204030204" pitchFamily="34" charset="0"/>
                <a:cs typeface="Calibri" panose="020F0502020204030204" pitchFamily="34" charset="0"/>
              </a:rPr>
              <a:t>C Program (High level Language)</a:t>
            </a:r>
          </a:p>
        </p:txBody>
      </p:sp>
      <p:cxnSp>
        <p:nvCxnSpPr>
          <p:cNvPr id="10" name="Straight Arrow Connector 9">
            <a:extLst>
              <a:ext uri="{FF2B5EF4-FFF2-40B4-BE49-F238E27FC236}">
                <a16:creationId xmlns:a16="http://schemas.microsoft.com/office/drawing/2014/main" id="{C87468FD-0175-1A1E-BAB3-2A14F78B268E}"/>
              </a:ext>
            </a:extLst>
          </p:cNvPr>
          <p:cNvCxnSpPr/>
          <p:nvPr/>
        </p:nvCxnSpPr>
        <p:spPr>
          <a:xfrm>
            <a:off x="1464753" y="1384102"/>
            <a:ext cx="0" cy="4172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4E3B82C-D6FF-FFBA-6128-C900D2B28CA7}"/>
              </a:ext>
            </a:extLst>
          </p:cNvPr>
          <p:cNvCxnSpPr>
            <a:stCxn id="4" idx="3"/>
            <a:endCxn id="7" idx="1"/>
          </p:cNvCxnSpPr>
          <p:nvPr/>
        </p:nvCxnSpPr>
        <p:spPr>
          <a:xfrm flipV="1">
            <a:off x="2674620" y="2322576"/>
            <a:ext cx="2386585" cy="91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3957FB7A-D21C-583D-3658-F7404B47BCB7}"/>
              </a:ext>
            </a:extLst>
          </p:cNvPr>
          <p:cNvSpPr txBox="1"/>
          <p:nvPr/>
        </p:nvSpPr>
        <p:spPr>
          <a:xfrm>
            <a:off x="2674624" y="1530173"/>
            <a:ext cx="2386581" cy="646331"/>
          </a:xfrm>
          <a:prstGeom prst="rect">
            <a:avLst/>
          </a:prstGeom>
          <a:noFill/>
        </p:spPr>
        <p:txBody>
          <a:bodyPr wrap="square" rtlCol="0">
            <a:spAutoFit/>
          </a:bodyPr>
          <a:lstStyle/>
          <a:p>
            <a:pPr algn="ctr"/>
            <a:r>
              <a:rPr lang="en-IN" dirty="0">
                <a:latin typeface="Calibri" panose="020F0502020204030204" pitchFamily="34" charset="0"/>
                <a:ea typeface="Calibri" panose="020F0502020204030204" pitchFamily="34" charset="0"/>
                <a:cs typeface="Calibri" panose="020F0502020204030204" pitchFamily="34" charset="0"/>
              </a:rPr>
              <a:t>After handling preprocessor directives</a:t>
            </a:r>
          </a:p>
        </p:txBody>
      </p:sp>
      <p:cxnSp>
        <p:nvCxnSpPr>
          <p:cNvPr id="15" name="Straight Arrow Connector 14">
            <a:extLst>
              <a:ext uri="{FF2B5EF4-FFF2-40B4-BE49-F238E27FC236}">
                <a16:creationId xmlns:a16="http://schemas.microsoft.com/office/drawing/2014/main" id="{55231DCA-6534-CA11-961A-41880A11B54E}"/>
              </a:ext>
            </a:extLst>
          </p:cNvPr>
          <p:cNvCxnSpPr>
            <a:stCxn id="7" idx="3"/>
            <a:endCxn id="6" idx="1"/>
          </p:cNvCxnSpPr>
          <p:nvPr/>
        </p:nvCxnSpPr>
        <p:spPr>
          <a:xfrm>
            <a:off x="7200901" y="2322576"/>
            <a:ext cx="225989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1AA912B7-75F9-E1F0-8E67-329C55A5AF93}"/>
              </a:ext>
            </a:extLst>
          </p:cNvPr>
          <p:cNvSpPr txBox="1"/>
          <p:nvPr/>
        </p:nvSpPr>
        <p:spPr>
          <a:xfrm>
            <a:off x="7351776" y="1772990"/>
            <a:ext cx="1984248" cy="369332"/>
          </a:xfrm>
          <a:prstGeom prst="rect">
            <a:avLst/>
          </a:prstGeom>
          <a:noFill/>
        </p:spPr>
        <p:txBody>
          <a:bodyPr wrap="square" rtlCol="0">
            <a:spAutoFit/>
          </a:bodyPr>
          <a:lstStyle/>
          <a:p>
            <a:r>
              <a:rPr lang="en-IN" dirty="0">
                <a:latin typeface="Calibri" panose="020F0502020204030204" pitchFamily="34" charset="0"/>
                <a:ea typeface="Calibri" panose="020F0502020204030204" pitchFamily="34" charset="0"/>
                <a:cs typeface="Calibri" panose="020F0502020204030204" pitchFamily="34" charset="0"/>
              </a:rPr>
              <a:t>Assembly language</a:t>
            </a:r>
          </a:p>
        </p:txBody>
      </p:sp>
      <p:cxnSp>
        <p:nvCxnSpPr>
          <p:cNvPr id="18" name="Straight Arrow Connector 17">
            <a:extLst>
              <a:ext uri="{FF2B5EF4-FFF2-40B4-BE49-F238E27FC236}">
                <a16:creationId xmlns:a16="http://schemas.microsoft.com/office/drawing/2014/main" id="{BD53A323-106F-225E-598D-C0E4ADDE0869}"/>
              </a:ext>
            </a:extLst>
          </p:cNvPr>
          <p:cNvCxnSpPr>
            <a:stCxn id="6" idx="2"/>
            <a:endCxn id="5" idx="0"/>
          </p:cNvCxnSpPr>
          <p:nvPr/>
        </p:nvCxnSpPr>
        <p:spPr>
          <a:xfrm>
            <a:off x="10530647" y="2843784"/>
            <a:ext cx="0" cy="11704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504EA845-DF8C-0533-15D0-ADEA68A4D39A}"/>
              </a:ext>
            </a:extLst>
          </p:cNvPr>
          <p:cNvSpPr txBox="1"/>
          <p:nvPr/>
        </p:nvSpPr>
        <p:spPr>
          <a:xfrm>
            <a:off x="8790048" y="3105835"/>
            <a:ext cx="1764790" cy="646331"/>
          </a:xfrm>
          <a:prstGeom prst="rect">
            <a:avLst/>
          </a:prstGeom>
          <a:noFill/>
        </p:spPr>
        <p:txBody>
          <a:bodyPr wrap="square" rtlCol="0">
            <a:spAutoFit/>
          </a:bodyPr>
          <a:lstStyle/>
          <a:p>
            <a:pPr algn="ctr"/>
            <a:r>
              <a:rPr lang="en-IN" dirty="0">
                <a:latin typeface="Calibri" panose="020F0502020204030204" pitchFamily="34" charset="0"/>
                <a:ea typeface="Calibri" panose="020F0502020204030204" pitchFamily="34" charset="0"/>
                <a:cs typeface="Calibri" panose="020F0502020204030204" pitchFamily="34" charset="0"/>
              </a:rPr>
              <a:t>Relocatable machine code</a:t>
            </a:r>
          </a:p>
        </p:txBody>
      </p:sp>
      <p:cxnSp>
        <p:nvCxnSpPr>
          <p:cNvPr id="21" name="Straight Arrow Connector 20">
            <a:extLst>
              <a:ext uri="{FF2B5EF4-FFF2-40B4-BE49-F238E27FC236}">
                <a16:creationId xmlns:a16="http://schemas.microsoft.com/office/drawing/2014/main" id="{0FFBC4D4-7B28-A4E5-EABD-B639FC270EF1}"/>
              </a:ext>
            </a:extLst>
          </p:cNvPr>
          <p:cNvCxnSpPr>
            <a:stCxn id="5" idx="1"/>
          </p:cNvCxnSpPr>
          <p:nvPr/>
        </p:nvCxnSpPr>
        <p:spPr>
          <a:xfrm flipH="1">
            <a:off x="8065008" y="4535425"/>
            <a:ext cx="139579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77C06ED-AA3B-6A1D-5407-088590D3C3BC}"/>
              </a:ext>
            </a:extLst>
          </p:cNvPr>
          <p:cNvSpPr txBox="1"/>
          <p:nvPr/>
        </p:nvSpPr>
        <p:spPr>
          <a:xfrm>
            <a:off x="6581395" y="4073759"/>
            <a:ext cx="1483613" cy="923330"/>
          </a:xfrm>
          <a:prstGeom prst="rect">
            <a:avLst/>
          </a:prstGeom>
          <a:noFill/>
        </p:spPr>
        <p:txBody>
          <a:bodyPr wrap="square" rtlCol="0">
            <a:spAutoFit/>
          </a:bodyPr>
          <a:lstStyle/>
          <a:p>
            <a:pPr algn="ctr"/>
            <a:r>
              <a:rPr lang="en-IN" dirty="0"/>
              <a:t>Absolute machine code (.exe, .out)</a:t>
            </a:r>
          </a:p>
        </p:txBody>
      </p:sp>
    </p:spTree>
    <p:extLst>
      <p:ext uri="{BB962C8B-B14F-4D97-AF65-F5344CB8AC3E}">
        <p14:creationId xmlns:p14="http://schemas.microsoft.com/office/powerpoint/2010/main" val="40888723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EB53E-8E9A-0B01-5467-A876ED2F38E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6F36A8F-1411-98CF-04D2-673EC5DB434E}"/>
              </a:ext>
            </a:extLst>
          </p:cNvPr>
          <p:cNvSpPr txBox="1"/>
          <p:nvPr/>
        </p:nvSpPr>
        <p:spPr>
          <a:xfrm>
            <a:off x="2379821" y="0"/>
            <a:ext cx="7432358" cy="646331"/>
          </a:xfrm>
          <a:prstGeom prst="rect">
            <a:avLst/>
          </a:prstGeom>
          <a:noFill/>
        </p:spPr>
        <p:txBody>
          <a:bodyPr wrap="square" rtlCol="0">
            <a:spAutoFit/>
          </a:bodyPr>
          <a:lstStyle/>
          <a:p>
            <a:pPr algn="ctr"/>
            <a:r>
              <a:rPr lang="en-IN" sz="3600" u="sng" dirty="0">
                <a:latin typeface="Calibri" panose="020F0502020204030204" pitchFamily="34" charset="0"/>
                <a:ea typeface="Calibri" panose="020F0502020204030204" pitchFamily="34" charset="0"/>
                <a:cs typeface="Calibri" panose="020F0502020204030204" pitchFamily="34" charset="0"/>
              </a:rPr>
              <a:t>Bootstrapping</a:t>
            </a:r>
          </a:p>
        </p:txBody>
      </p:sp>
      <p:sp>
        <p:nvSpPr>
          <p:cNvPr id="3" name="TextBox 2">
            <a:extLst>
              <a:ext uri="{FF2B5EF4-FFF2-40B4-BE49-F238E27FC236}">
                <a16:creationId xmlns:a16="http://schemas.microsoft.com/office/drawing/2014/main" id="{AB1BAB1E-BB81-F1CB-82BA-D4F0680F9C38}"/>
              </a:ext>
            </a:extLst>
          </p:cNvPr>
          <p:cNvSpPr txBox="1"/>
          <p:nvPr/>
        </p:nvSpPr>
        <p:spPr>
          <a:xfrm>
            <a:off x="1040130" y="1443841"/>
            <a:ext cx="10111740" cy="3970318"/>
          </a:xfrm>
          <a:prstGeom prst="rect">
            <a:avLst/>
          </a:prstGeom>
          <a:noFill/>
        </p:spPr>
        <p:txBody>
          <a:bodyPr wrap="square" rtlCol="0">
            <a:spAutoFit/>
          </a:bodyPr>
          <a:lstStyle/>
          <a:p>
            <a:r>
              <a:rPr lang="en-US" dirty="0">
                <a:latin typeface="Calibri" panose="020F0502020204030204" pitchFamily="34" charset="0"/>
                <a:ea typeface="Calibri" panose="020F0502020204030204" pitchFamily="34" charset="0"/>
                <a:cs typeface="Calibri" panose="020F0502020204030204" pitchFamily="34" charset="0"/>
              </a:rPr>
              <a:t>Initially, compilers were written in assembly language or a low-level language specific to the hardware. As programming languages evolved, the need for writing compilers in a higher-level language became evident.</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Thus, bootstrapping emerged which refers to writing a compiler in the same language it intends to compile.</a:t>
            </a:r>
          </a:p>
          <a:p>
            <a:r>
              <a:rPr lang="en-US" dirty="0">
                <a:latin typeface="Calibri" panose="020F0502020204030204" pitchFamily="34" charset="0"/>
                <a:ea typeface="Calibri" panose="020F0502020204030204" pitchFamily="34" charset="0"/>
                <a:cs typeface="Calibri" panose="020F0502020204030204" pitchFamily="34" charset="0"/>
              </a:rPr>
              <a:t>A simple compiler is first written in a low-level language. This is often termed as the bootstrap compiler. The compiler is then rewritten in its own higher-level language and compiled using the bootstrap compiler. This process can be iterated, with each new version of the compiler used to compile its next version.</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Advantages:</a:t>
            </a: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Ensures that the compiler is compatible with the language it is designed to compile, thus it is better able to understand and interpret the syntax and semantics of the language.</a:t>
            </a: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Greater control over the optimization and code generation process.</a:t>
            </a:r>
          </a:p>
        </p:txBody>
      </p:sp>
    </p:spTree>
    <p:extLst>
      <p:ext uri="{BB962C8B-B14F-4D97-AF65-F5344CB8AC3E}">
        <p14:creationId xmlns:p14="http://schemas.microsoft.com/office/powerpoint/2010/main" val="9597548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D5160-73F4-9C46-7057-BAF2EAE6F84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9D67BDA-5D6C-823E-4021-C9C1B0959181}"/>
              </a:ext>
            </a:extLst>
          </p:cNvPr>
          <p:cNvSpPr txBox="1"/>
          <p:nvPr/>
        </p:nvSpPr>
        <p:spPr>
          <a:xfrm>
            <a:off x="2379821" y="0"/>
            <a:ext cx="7432358" cy="646331"/>
          </a:xfrm>
          <a:prstGeom prst="rect">
            <a:avLst/>
          </a:prstGeom>
          <a:noFill/>
        </p:spPr>
        <p:txBody>
          <a:bodyPr wrap="square" rtlCol="0">
            <a:spAutoFit/>
          </a:bodyPr>
          <a:lstStyle/>
          <a:p>
            <a:pPr algn="ctr"/>
            <a:r>
              <a:rPr lang="en-IN" sz="3600" u="sng" dirty="0">
                <a:latin typeface="Calibri" panose="020F0502020204030204" pitchFamily="34" charset="0"/>
                <a:ea typeface="Calibri" panose="020F0502020204030204" pitchFamily="34" charset="0"/>
                <a:cs typeface="Calibri" panose="020F0502020204030204" pitchFamily="34" charset="0"/>
              </a:rPr>
              <a:t>Cross Compiler</a:t>
            </a:r>
          </a:p>
        </p:txBody>
      </p:sp>
      <p:sp>
        <p:nvSpPr>
          <p:cNvPr id="3" name="TextBox 2">
            <a:extLst>
              <a:ext uri="{FF2B5EF4-FFF2-40B4-BE49-F238E27FC236}">
                <a16:creationId xmlns:a16="http://schemas.microsoft.com/office/drawing/2014/main" id="{AA41193B-DA03-E2BA-CC08-92FCDB0375C3}"/>
              </a:ext>
            </a:extLst>
          </p:cNvPr>
          <p:cNvSpPr txBox="1"/>
          <p:nvPr/>
        </p:nvSpPr>
        <p:spPr>
          <a:xfrm>
            <a:off x="1040130" y="1443841"/>
            <a:ext cx="10111740" cy="3970318"/>
          </a:xfrm>
          <a:prstGeom prst="rect">
            <a:avLst/>
          </a:prstGeom>
          <a:noFill/>
        </p:spPr>
        <p:txBody>
          <a:bodyPr wrap="square" rtlCol="0">
            <a:spAutoFit/>
          </a:bodyPr>
          <a:lstStyle/>
          <a:p>
            <a:r>
              <a:rPr lang="en-US" dirty="0">
                <a:latin typeface="Calibri" panose="020F0502020204030204" pitchFamily="34" charset="0"/>
                <a:ea typeface="Calibri" panose="020F0502020204030204" pitchFamily="34" charset="0"/>
                <a:cs typeface="Calibri" panose="020F0502020204030204" pitchFamily="34" charset="0"/>
              </a:rPr>
              <a:t>Initially, compilers were written in assembly language or a low-level language specific to the hardware. As programming languages evolved, the need for writing compilers in a higher-level language became evident.</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Thus, bootstrapping emerged which refers to writing a compiler in the same language it intends to compile.</a:t>
            </a:r>
          </a:p>
          <a:p>
            <a:r>
              <a:rPr lang="en-US" dirty="0">
                <a:latin typeface="Calibri" panose="020F0502020204030204" pitchFamily="34" charset="0"/>
                <a:ea typeface="Calibri" panose="020F0502020204030204" pitchFamily="34" charset="0"/>
                <a:cs typeface="Calibri" panose="020F0502020204030204" pitchFamily="34" charset="0"/>
              </a:rPr>
              <a:t>A simple compiler is first written in a low-level language. This is often termed as the bootstrap compiler. The compiler is then rewritten in its own higher-level language and compiled using the bootstrap compiler. This process can be iterated, with each new version of the compiler used to compile its next version.</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Advantages:</a:t>
            </a: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Ensures that the compiler is compatible with the language it is designed to compile, thus it is better able to understand and interpret the syntax and semantics of the language.</a:t>
            </a: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Greater control over the optimization and code generation process.</a:t>
            </a:r>
          </a:p>
        </p:txBody>
      </p:sp>
    </p:spTree>
    <p:extLst>
      <p:ext uri="{BB962C8B-B14F-4D97-AF65-F5344CB8AC3E}">
        <p14:creationId xmlns:p14="http://schemas.microsoft.com/office/powerpoint/2010/main" val="1481446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BBC25-FD83-4926-7CC0-C4432500D1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123C1E0-5D14-64D1-0B4F-1EF9A4F65F78}"/>
              </a:ext>
            </a:extLst>
          </p:cNvPr>
          <p:cNvSpPr txBox="1"/>
          <p:nvPr/>
        </p:nvSpPr>
        <p:spPr>
          <a:xfrm>
            <a:off x="1464753" y="0"/>
            <a:ext cx="9262491" cy="646331"/>
          </a:xfrm>
          <a:prstGeom prst="rect">
            <a:avLst/>
          </a:prstGeom>
          <a:noFill/>
        </p:spPr>
        <p:txBody>
          <a:bodyPr wrap="square" rtlCol="0">
            <a:spAutoFit/>
          </a:bodyPr>
          <a:lstStyle/>
          <a:p>
            <a:pPr algn="ctr"/>
            <a:r>
              <a:rPr lang="en-IN" sz="3600" u="sng" dirty="0">
                <a:latin typeface="Calibri" panose="020F0502020204030204" pitchFamily="34" charset="0"/>
                <a:ea typeface="Calibri" panose="020F0502020204030204" pitchFamily="34" charset="0"/>
                <a:cs typeface="Calibri" panose="020F0502020204030204" pitchFamily="34" charset="0"/>
              </a:rPr>
              <a:t>Phases of a compiler</a:t>
            </a:r>
          </a:p>
        </p:txBody>
      </p:sp>
      <p:sp>
        <p:nvSpPr>
          <p:cNvPr id="3" name="Rectangle 2">
            <a:extLst>
              <a:ext uri="{FF2B5EF4-FFF2-40B4-BE49-F238E27FC236}">
                <a16:creationId xmlns:a16="http://schemas.microsoft.com/office/drawing/2014/main" id="{2BF1AEDE-B576-12CF-C949-C90E38123B3F}"/>
              </a:ext>
            </a:extLst>
          </p:cNvPr>
          <p:cNvSpPr/>
          <p:nvPr/>
        </p:nvSpPr>
        <p:spPr>
          <a:xfrm>
            <a:off x="633984" y="2401902"/>
            <a:ext cx="1892808" cy="868680"/>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Calibri" panose="020F0502020204030204" pitchFamily="34" charset="0"/>
                <a:ea typeface="Calibri" panose="020F0502020204030204" pitchFamily="34" charset="0"/>
                <a:cs typeface="Calibri" panose="020F0502020204030204" pitchFamily="34" charset="0"/>
              </a:rPr>
              <a:t>Lexical Analysis</a:t>
            </a:r>
          </a:p>
        </p:txBody>
      </p:sp>
      <p:sp>
        <p:nvSpPr>
          <p:cNvPr id="9" name="Rectangle 8">
            <a:extLst>
              <a:ext uri="{FF2B5EF4-FFF2-40B4-BE49-F238E27FC236}">
                <a16:creationId xmlns:a16="http://schemas.microsoft.com/office/drawing/2014/main" id="{4AA21ED9-1B04-3ED1-F2BF-3C8F0C68675A}"/>
              </a:ext>
            </a:extLst>
          </p:cNvPr>
          <p:cNvSpPr/>
          <p:nvPr/>
        </p:nvSpPr>
        <p:spPr>
          <a:xfrm>
            <a:off x="9340596" y="3698594"/>
            <a:ext cx="1892808" cy="868680"/>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Calibri" panose="020F0502020204030204" pitchFamily="34" charset="0"/>
                <a:ea typeface="Calibri" panose="020F0502020204030204" pitchFamily="34" charset="0"/>
                <a:cs typeface="Calibri" panose="020F0502020204030204" pitchFamily="34" charset="0"/>
              </a:rPr>
              <a:t>Intermediate Code Generation</a:t>
            </a:r>
          </a:p>
        </p:txBody>
      </p:sp>
      <p:sp>
        <p:nvSpPr>
          <p:cNvPr id="14" name="Rectangle 13">
            <a:extLst>
              <a:ext uri="{FF2B5EF4-FFF2-40B4-BE49-F238E27FC236}">
                <a16:creationId xmlns:a16="http://schemas.microsoft.com/office/drawing/2014/main" id="{C8BF6D01-DF03-B24C-ABCE-A158F42FACC9}"/>
              </a:ext>
            </a:extLst>
          </p:cNvPr>
          <p:cNvSpPr/>
          <p:nvPr/>
        </p:nvSpPr>
        <p:spPr>
          <a:xfrm>
            <a:off x="6900677" y="2401901"/>
            <a:ext cx="1892808" cy="868680"/>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Calibri" panose="020F0502020204030204" pitchFamily="34" charset="0"/>
                <a:ea typeface="Calibri" panose="020F0502020204030204" pitchFamily="34" charset="0"/>
                <a:cs typeface="Calibri" panose="020F0502020204030204" pitchFamily="34" charset="0"/>
              </a:rPr>
              <a:t>Semantic Analysis</a:t>
            </a:r>
          </a:p>
        </p:txBody>
      </p:sp>
      <p:sp>
        <p:nvSpPr>
          <p:cNvPr id="17" name="Rectangle 16">
            <a:extLst>
              <a:ext uri="{FF2B5EF4-FFF2-40B4-BE49-F238E27FC236}">
                <a16:creationId xmlns:a16="http://schemas.microsoft.com/office/drawing/2014/main" id="{6C8805F2-3C92-8A63-2E16-0923836FB293}"/>
              </a:ext>
            </a:extLst>
          </p:cNvPr>
          <p:cNvSpPr/>
          <p:nvPr/>
        </p:nvSpPr>
        <p:spPr>
          <a:xfrm>
            <a:off x="3622548" y="2401902"/>
            <a:ext cx="1892808" cy="868680"/>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Calibri" panose="020F0502020204030204" pitchFamily="34" charset="0"/>
                <a:ea typeface="Calibri" panose="020F0502020204030204" pitchFamily="34" charset="0"/>
                <a:cs typeface="Calibri" panose="020F0502020204030204" pitchFamily="34" charset="0"/>
              </a:rPr>
              <a:t>Syntax Analysis</a:t>
            </a:r>
          </a:p>
        </p:txBody>
      </p:sp>
      <p:sp>
        <p:nvSpPr>
          <p:cNvPr id="20" name="Rectangle 19">
            <a:extLst>
              <a:ext uri="{FF2B5EF4-FFF2-40B4-BE49-F238E27FC236}">
                <a16:creationId xmlns:a16="http://schemas.microsoft.com/office/drawing/2014/main" id="{F8951BA8-F01A-7300-5886-D2E56617DA46}"/>
              </a:ext>
            </a:extLst>
          </p:cNvPr>
          <p:cNvSpPr/>
          <p:nvPr/>
        </p:nvSpPr>
        <p:spPr>
          <a:xfrm>
            <a:off x="2118360" y="3693979"/>
            <a:ext cx="1892808" cy="868680"/>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Calibri" panose="020F0502020204030204" pitchFamily="34" charset="0"/>
                <a:ea typeface="Calibri" panose="020F0502020204030204" pitchFamily="34" charset="0"/>
                <a:cs typeface="Calibri" panose="020F0502020204030204" pitchFamily="34" charset="0"/>
              </a:rPr>
              <a:t>Target Code Generation</a:t>
            </a:r>
          </a:p>
        </p:txBody>
      </p:sp>
      <p:sp>
        <p:nvSpPr>
          <p:cNvPr id="24" name="TextBox 23">
            <a:extLst>
              <a:ext uri="{FF2B5EF4-FFF2-40B4-BE49-F238E27FC236}">
                <a16:creationId xmlns:a16="http://schemas.microsoft.com/office/drawing/2014/main" id="{E4C71F9A-E65B-67C3-71A6-53BB36231183}"/>
              </a:ext>
            </a:extLst>
          </p:cNvPr>
          <p:cNvSpPr txBox="1"/>
          <p:nvPr/>
        </p:nvSpPr>
        <p:spPr>
          <a:xfrm>
            <a:off x="800100" y="646331"/>
            <a:ext cx="1560576" cy="1200329"/>
          </a:xfrm>
          <a:prstGeom prst="rect">
            <a:avLst/>
          </a:prstGeom>
          <a:noFill/>
        </p:spPr>
        <p:txBody>
          <a:bodyPr wrap="square" rtlCol="0">
            <a:spAutoFit/>
          </a:bodyPr>
          <a:lstStyle/>
          <a:p>
            <a:pPr algn="ctr"/>
            <a:r>
              <a:rPr lang="en-IN" dirty="0">
                <a:latin typeface="Calibri" panose="020F0502020204030204" pitchFamily="34" charset="0"/>
                <a:ea typeface="Calibri" panose="020F0502020204030204" pitchFamily="34" charset="0"/>
                <a:cs typeface="Calibri" panose="020F0502020204030204" pitchFamily="34" charset="0"/>
              </a:rPr>
              <a:t>C code after preprocessing (character stream)</a:t>
            </a:r>
          </a:p>
        </p:txBody>
      </p:sp>
      <p:cxnSp>
        <p:nvCxnSpPr>
          <p:cNvPr id="27" name="Straight Arrow Connector 26">
            <a:extLst>
              <a:ext uri="{FF2B5EF4-FFF2-40B4-BE49-F238E27FC236}">
                <a16:creationId xmlns:a16="http://schemas.microsoft.com/office/drawing/2014/main" id="{0A5CE472-7FDF-696E-DB2E-9347A8CE36AA}"/>
              </a:ext>
            </a:extLst>
          </p:cNvPr>
          <p:cNvCxnSpPr>
            <a:stCxn id="24" idx="2"/>
            <a:endCxn id="3" idx="0"/>
          </p:cNvCxnSpPr>
          <p:nvPr/>
        </p:nvCxnSpPr>
        <p:spPr>
          <a:xfrm>
            <a:off x="1580388" y="1846660"/>
            <a:ext cx="0" cy="5552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127C03D8-99C7-8BE8-46BB-B45F854D6791}"/>
              </a:ext>
            </a:extLst>
          </p:cNvPr>
          <p:cNvSpPr/>
          <p:nvPr/>
        </p:nvSpPr>
        <p:spPr>
          <a:xfrm>
            <a:off x="5515356" y="3724467"/>
            <a:ext cx="2321052" cy="816933"/>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Calibri" panose="020F0502020204030204" pitchFamily="34" charset="0"/>
                <a:ea typeface="Calibri" panose="020F0502020204030204" pitchFamily="34" charset="0"/>
                <a:cs typeface="Calibri" panose="020F0502020204030204" pitchFamily="34" charset="0"/>
              </a:rPr>
              <a:t>Code Optimisation on Intermediate code</a:t>
            </a:r>
          </a:p>
        </p:txBody>
      </p:sp>
      <p:cxnSp>
        <p:nvCxnSpPr>
          <p:cNvPr id="35" name="Straight Arrow Connector 34">
            <a:extLst>
              <a:ext uri="{FF2B5EF4-FFF2-40B4-BE49-F238E27FC236}">
                <a16:creationId xmlns:a16="http://schemas.microsoft.com/office/drawing/2014/main" id="{4A7455AA-0D5A-5987-AAE8-EDF35EE58178}"/>
              </a:ext>
            </a:extLst>
          </p:cNvPr>
          <p:cNvCxnSpPr>
            <a:stCxn id="3" idx="3"/>
            <a:endCxn id="17" idx="1"/>
          </p:cNvCxnSpPr>
          <p:nvPr/>
        </p:nvCxnSpPr>
        <p:spPr>
          <a:xfrm>
            <a:off x="2526792" y="2836242"/>
            <a:ext cx="109575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CE3EADB7-1064-60DC-52C4-CC01B1E6B2D9}"/>
              </a:ext>
            </a:extLst>
          </p:cNvPr>
          <p:cNvSpPr txBox="1"/>
          <p:nvPr/>
        </p:nvSpPr>
        <p:spPr>
          <a:xfrm>
            <a:off x="2638807" y="2078736"/>
            <a:ext cx="871725" cy="646331"/>
          </a:xfrm>
          <a:prstGeom prst="rect">
            <a:avLst/>
          </a:prstGeom>
          <a:noFill/>
        </p:spPr>
        <p:txBody>
          <a:bodyPr wrap="square" rtlCol="0">
            <a:spAutoFit/>
          </a:bodyPr>
          <a:lstStyle/>
          <a:p>
            <a:pPr algn="ctr"/>
            <a:r>
              <a:rPr lang="en-IN" dirty="0">
                <a:latin typeface="Calibri" panose="020F0502020204030204" pitchFamily="34" charset="0"/>
                <a:ea typeface="Calibri" panose="020F0502020204030204" pitchFamily="34" charset="0"/>
                <a:cs typeface="Calibri" panose="020F0502020204030204" pitchFamily="34" charset="0"/>
              </a:rPr>
              <a:t>Token stream</a:t>
            </a:r>
          </a:p>
        </p:txBody>
      </p:sp>
      <p:cxnSp>
        <p:nvCxnSpPr>
          <p:cNvPr id="40" name="Straight Arrow Connector 39">
            <a:extLst>
              <a:ext uri="{FF2B5EF4-FFF2-40B4-BE49-F238E27FC236}">
                <a16:creationId xmlns:a16="http://schemas.microsoft.com/office/drawing/2014/main" id="{41430778-8FB8-0E34-9374-1089A15AA965}"/>
              </a:ext>
            </a:extLst>
          </p:cNvPr>
          <p:cNvCxnSpPr>
            <a:stCxn id="17" idx="3"/>
            <a:endCxn id="14" idx="1"/>
          </p:cNvCxnSpPr>
          <p:nvPr/>
        </p:nvCxnSpPr>
        <p:spPr>
          <a:xfrm flipV="1">
            <a:off x="5515356" y="2836241"/>
            <a:ext cx="138532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AD02DCBD-ECC4-68C6-AD4A-B9E318B2DB6F}"/>
              </a:ext>
            </a:extLst>
          </p:cNvPr>
          <p:cNvSpPr txBox="1"/>
          <p:nvPr/>
        </p:nvSpPr>
        <p:spPr>
          <a:xfrm>
            <a:off x="5627372" y="2413146"/>
            <a:ext cx="1161289" cy="369332"/>
          </a:xfrm>
          <a:prstGeom prst="rect">
            <a:avLst/>
          </a:prstGeom>
          <a:noFill/>
        </p:spPr>
        <p:txBody>
          <a:bodyPr wrap="square" rtlCol="0">
            <a:spAutoFit/>
          </a:bodyPr>
          <a:lstStyle/>
          <a:p>
            <a:r>
              <a:rPr lang="en-IN" dirty="0">
                <a:latin typeface="Calibri" panose="020F0502020204030204" pitchFamily="34" charset="0"/>
                <a:ea typeface="Calibri" panose="020F0502020204030204" pitchFamily="34" charset="0"/>
                <a:cs typeface="Calibri" panose="020F0502020204030204" pitchFamily="34" charset="0"/>
              </a:rPr>
              <a:t>Parse tree</a:t>
            </a:r>
          </a:p>
        </p:txBody>
      </p:sp>
      <p:cxnSp>
        <p:nvCxnSpPr>
          <p:cNvPr id="45" name="Connector: Elbow 44">
            <a:extLst>
              <a:ext uri="{FF2B5EF4-FFF2-40B4-BE49-F238E27FC236}">
                <a16:creationId xmlns:a16="http://schemas.microsoft.com/office/drawing/2014/main" id="{D05B2F11-9A46-219B-5F41-6CD5A63379BF}"/>
              </a:ext>
            </a:extLst>
          </p:cNvPr>
          <p:cNvCxnSpPr>
            <a:stCxn id="14" idx="3"/>
            <a:endCxn id="9" idx="0"/>
          </p:cNvCxnSpPr>
          <p:nvPr/>
        </p:nvCxnSpPr>
        <p:spPr>
          <a:xfrm>
            <a:off x="8793485" y="2836241"/>
            <a:ext cx="1493515" cy="862353"/>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07973480-7568-181F-8556-5705F964D1AA}"/>
              </a:ext>
            </a:extLst>
          </p:cNvPr>
          <p:cNvSpPr txBox="1"/>
          <p:nvPr/>
        </p:nvSpPr>
        <p:spPr>
          <a:xfrm>
            <a:off x="8905501" y="2355735"/>
            <a:ext cx="2267712" cy="369332"/>
          </a:xfrm>
          <a:prstGeom prst="rect">
            <a:avLst/>
          </a:prstGeom>
          <a:noFill/>
        </p:spPr>
        <p:txBody>
          <a:bodyPr wrap="square" rtlCol="0">
            <a:spAutoFit/>
          </a:bodyPr>
          <a:lstStyle/>
          <a:p>
            <a:r>
              <a:rPr lang="en-IN" dirty="0">
                <a:latin typeface="Calibri" panose="020F0502020204030204" pitchFamily="34" charset="0"/>
                <a:ea typeface="Calibri" panose="020F0502020204030204" pitchFamily="34" charset="0"/>
                <a:cs typeface="Calibri" panose="020F0502020204030204" pitchFamily="34" charset="0"/>
              </a:rPr>
              <a:t>Annotated Parse Tree</a:t>
            </a:r>
          </a:p>
        </p:txBody>
      </p:sp>
      <p:cxnSp>
        <p:nvCxnSpPr>
          <p:cNvPr id="49" name="Straight Arrow Connector 48">
            <a:extLst>
              <a:ext uri="{FF2B5EF4-FFF2-40B4-BE49-F238E27FC236}">
                <a16:creationId xmlns:a16="http://schemas.microsoft.com/office/drawing/2014/main" id="{FF44C0CC-4DBA-3962-8F2A-10E1F54C24EF}"/>
              </a:ext>
            </a:extLst>
          </p:cNvPr>
          <p:cNvCxnSpPr>
            <a:stCxn id="9" idx="1"/>
            <a:endCxn id="29" idx="3"/>
          </p:cNvCxnSpPr>
          <p:nvPr/>
        </p:nvCxnSpPr>
        <p:spPr>
          <a:xfrm flipH="1">
            <a:off x="7836408" y="4132934"/>
            <a:ext cx="150418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CB639AFD-F9B9-A35D-C4BA-9EFBBBA77FAD}"/>
              </a:ext>
            </a:extLst>
          </p:cNvPr>
          <p:cNvSpPr txBox="1"/>
          <p:nvPr/>
        </p:nvSpPr>
        <p:spPr>
          <a:xfrm>
            <a:off x="7847081" y="4132934"/>
            <a:ext cx="1493515" cy="646331"/>
          </a:xfrm>
          <a:prstGeom prst="rect">
            <a:avLst/>
          </a:prstGeom>
          <a:noFill/>
        </p:spPr>
        <p:txBody>
          <a:bodyPr wrap="square" rtlCol="0">
            <a:spAutoFit/>
          </a:bodyPr>
          <a:lstStyle/>
          <a:p>
            <a:pPr algn="ctr"/>
            <a:r>
              <a:rPr lang="en-IN" dirty="0">
                <a:latin typeface="Calibri" panose="020F0502020204030204" pitchFamily="34" charset="0"/>
                <a:ea typeface="Calibri" panose="020F0502020204030204" pitchFamily="34" charset="0"/>
                <a:cs typeface="Calibri" panose="020F0502020204030204" pitchFamily="34" charset="0"/>
              </a:rPr>
              <a:t>Intermediate code</a:t>
            </a:r>
          </a:p>
        </p:txBody>
      </p:sp>
      <p:cxnSp>
        <p:nvCxnSpPr>
          <p:cNvPr id="53" name="Straight Arrow Connector 52">
            <a:extLst>
              <a:ext uri="{FF2B5EF4-FFF2-40B4-BE49-F238E27FC236}">
                <a16:creationId xmlns:a16="http://schemas.microsoft.com/office/drawing/2014/main" id="{97A48927-BB3D-5BA2-8827-816EC19A4890}"/>
              </a:ext>
            </a:extLst>
          </p:cNvPr>
          <p:cNvCxnSpPr>
            <a:stCxn id="29" idx="1"/>
            <a:endCxn id="20" idx="3"/>
          </p:cNvCxnSpPr>
          <p:nvPr/>
        </p:nvCxnSpPr>
        <p:spPr>
          <a:xfrm flipH="1" flipV="1">
            <a:off x="4011168" y="4128319"/>
            <a:ext cx="1504188" cy="46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9DBE3253-29D3-FD77-3728-3252B36088F7}"/>
              </a:ext>
            </a:extLst>
          </p:cNvPr>
          <p:cNvSpPr txBox="1"/>
          <p:nvPr/>
        </p:nvSpPr>
        <p:spPr>
          <a:xfrm>
            <a:off x="4011168" y="4128318"/>
            <a:ext cx="1493515" cy="646331"/>
          </a:xfrm>
          <a:prstGeom prst="rect">
            <a:avLst/>
          </a:prstGeom>
          <a:noFill/>
        </p:spPr>
        <p:txBody>
          <a:bodyPr wrap="square" rtlCol="0">
            <a:spAutoFit/>
          </a:bodyPr>
          <a:lstStyle/>
          <a:p>
            <a:pPr algn="ctr"/>
            <a:r>
              <a:rPr lang="en-IN" dirty="0">
                <a:latin typeface="Calibri" panose="020F0502020204030204" pitchFamily="34" charset="0"/>
                <a:ea typeface="Calibri" panose="020F0502020204030204" pitchFamily="34" charset="0"/>
                <a:cs typeface="Calibri" panose="020F0502020204030204" pitchFamily="34" charset="0"/>
              </a:rPr>
              <a:t>Intermediate code</a:t>
            </a:r>
          </a:p>
        </p:txBody>
      </p:sp>
      <p:sp>
        <p:nvSpPr>
          <p:cNvPr id="60" name="TextBox 59">
            <a:extLst>
              <a:ext uri="{FF2B5EF4-FFF2-40B4-BE49-F238E27FC236}">
                <a16:creationId xmlns:a16="http://schemas.microsoft.com/office/drawing/2014/main" id="{50668674-6B36-8D92-709A-FEE31F3EAAD2}"/>
              </a:ext>
            </a:extLst>
          </p:cNvPr>
          <p:cNvSpPr txBox="1"/>
          <p:nvPr/>
        </p:nvSpPr>
        <p:spPr>
          <a:xfrm>
            <a:off x="210313" y="3809744"/>
            <a:ext cx="1216152" cy="646331"/>
          </a:xfrm>
          <a:prstGeom prst="rect">
            <a:avLst/>
          </a:prstGeom>
          <a:noFill/>
        </p:spPr>
        <p:txBody>
          <a:bodyPr wrap="square" rtlCol="0">
            <a:spAutoFit/>
          </a:bodyPr>
          <a:lstStyle/>
          <a:p>
            <a:pPr algn="ctr"/>
            <a:r>
              <a:rPr lang="en-IN" dirty="0">
                <a:latin typeface="Calibri" panose="020F0502020204030204" pitchFamily="34" charset="0"/>
                <a:ea typeface="Calibri" panose="020F0502020204030204" pitchFamily="34" charset="0"/>
                <a:cs typeface="Calibri" panose="020F0502020204030204" pitchFamily="34" charset="0"/>
              </a:rPr>
              <a:t>Assembly code</a:t>
            </a:r>
          </a:p>
        </p:txBody>
      </p:sp>
      <p:cxnSp>
        <p:nvCxnSpPr>
          <p:cNvPr id="62" name="Straight Arrow Connector 61">
            <a:extLst>
              <a:ext uri="{FF2B5EF4-FFF2-40B4-BE49-F238E27FC236}">
                <a16:creationId xmlns:a16="http://schemas.microsoft.com/office/drawing/2014/main" id="{4780B229-DFD2-C58B-79CC-0F2987B30DDE}"/>
              </a:ext>
            </a:extLst>
          </p:cNvPr>
          <p:cNvCxnSpPr>
            <a:cxnSpLocks/>
          </p:cNvCxnSpPr>
          <p:nvPr/>
        </p:nvCxnSpPr>
        <p:spPr>
          <a:xfrm flipH="1">
            <a:off x="1363979" y="4128318"/>
            <a:ext cx="7543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7E855B7B-7034-7066-DCFF-6D4281DC95D6}"/>
              </a:ext>
            </a:extLst>
          </p:cNvPr>
          <p:cNvCxnSpPr/>
          <p:nvPr/>
        </p:nvCxnSpPr>
        <p:spPr>
          <a:xfrm>
            <a:off x="192024" y="2078736"/>
            <a:ext cx="11329416"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69" name="Straight Connector 68">
            <a:extLst>
              <a:ext uri="{FF2B5EF4-FFF2-40B4-BE49-F238E27FC236}">
                <a16:creationId xmlns:a16="http://schemas.microsoft.com/office/drawing/2014/main" id="{EE1665DB-DCC9-E108-2683-91432C76242D}"/>
              </a:ext>
            </a:extLst>
          </p:cNvPr>
          <p:cNvCxnSpPr/>
          <p:nvPr/>
        </p:nvCxnSpPr>
        <p:spPr>
          <a:xfrm>
            <a:off x="210313" y="5230368"/>
            <a:ext cx="11329416" cy="0"/>
          </a:xfrm>
          <a:prstGeom prst="line">
            <a:avLst/>
          </a:prstGeom>
          <a:ln w="28575"/>
        </p:spPr>
        <p:style>
          <a:lnRef idx="1">
            <a:schemeClr val="dk1"/>
          </a:lnRef>
          <a:fillRef idx="0">
            <a:schemeClr val="dk1"/>
          </a:fillRef>
          <a:effectRef idx="0">
            <a:schemeClr val="dk1"/>
          </a:effectRef>
          <a:fontRef idx="minor">
            <a:schemeClr val="tx1"/>
          </a:fontRef>
        </p:style>
      </p:cxnSp>
      <p:sp>
        <p:nvSpPr>
          <p:cNvPr id="74" name="Rectangle 73">
            <a:extLst>
              <a:ext uri="{FF2B5EF4-FFF2-40B4-BE49-F238E27FC236}">
                <a16:creationId xmlns:a16="http://schemas.microsoft.com/office/drawing/2014/main" id="{B9C97F33-91A9-6A28-88C4-06BF64838708}"/>
              </a:ext>
            </a:extLst>
          </p:cNvPr>
          <p:cNvSpPr/>
          <p:nvPr/>
        </p:nvSpPr>
        <p:spPr>
          <a:xfrm>
            <a:off x="4319020" y="5944983"/>
            <a:ext cx="3019040" cy="38281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Error Handler</a:t>
            </a:r>
          </a:p>
        </p:txBody>
      </p:sp>
      <p:sp>
        <p:nvSpPr>
          <p:cNvPr id="76" name="Rectangle 75">
            <a:extLst>
              <a:ext uri="{FF2B5EF4-FFF2-40B4-BE49-F238E27FC236}">
                <a16:creationId xmlns:a16="http://schemas.microsoft.com/office/drawing/2014/main" id="{9675C464-F20E-8126-1B52-EF783EA08256}"/>
              </a:ext>
            </a:extLst>
          </p:cNvPr>
          <p:cNvSpPr/>
          <p:nvPr/>
        </p:nvSpPr>
        <p:spPr>
          <a:xfrm>
            <a:off x="4405888" y="999101"/>
            <a:ext cx="3019040" cy="38281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Symbol Table</a:t>
            </a:r>
          </a:p>
        </p:txBody>
      </p:sp>
      <p:cxnSp>
        <p:nvCxnSpPr>
          <p:cNvPr id="78" name="Straight Arrow Connector 77">
            <a:extLst>
              <a:ext uri="{FF2B5EF4-FFF2-40B4-BE49-F238E27FC236}">
                <a16:creationId xmlns:a16="http://schemas.microsoft.com/office/drawing/2014/main" id="{3583440D-D34F-21C2-DE5A-4BBFBAC6B842}"/>
              </a:ext>
            </a:extLst>
          </p:cNvPr>
          <p:cNvCxnSpPr>
            <a:cxnSpLocks/>
            <a:stCxn id="76" idx="2"/>
          </p:cNvCxnSpPr>
          <p:nvPr/>
        </p:nvCxnSpPr>
        <p:spPr>
          <a:xfrm>
            <a:off x="5915408" y="1381920"/>
            <a:ext cx="0" cy="71710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0CD082FC-B7D3-952A-83BB-AE7D0769B0E5}"/>
              </a:ext>
            </a:extLst>
          </p:cNvPr>
          <p:cNvCxnSpPr>
            <a:cxnSpLocks/>
          </p:cNvCxnSpPr>
          <p:nvPr/>
        </p:nvCxnSpPr>
        <p:spPr>
          <a:xfrm>
            <a:off x="5828540" y="5230368"/>
            <a:ext cx="0" cy="71710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40A6CE21-5156-4299-1664-5A1440FF886A}"/>
              </a:ext>
            </a:extLst>
          </p:cNvPr>
          <p:cNvCxnSpPr/>
          <p:nvPr/>
        </p:nvCxnSpPr>
        <p:spPr>
          <a:xfrm>
            <a:off x="192024" y="2078736"/>
            <a:ext cx="18289" cy="315163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C6F6F9AB-6A92-9E71-2396-45C4517C9899}"/>
              </a:ext>
            </a:extLst>
          </p:cNvPr>
          <p:cNvCxnSpPr/>
          <p:nvPr/>
        </p:nvCxnSpPr>
        <p:spPr>
          <a:xfrm>
            <a:off x="11530584" y="2078736"/>
            <a:ext cx="18289" cy="315163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83165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DB79FD8-9269-26AE-38EC-CB510036A09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5950C61-1D08-9B38-8C84-3FC0CAD6AA80}"/>
              </a:ext>
            </a:extLst>
          </p:cNvPr>
          <p:cNvSpPr txBox="1"/>
          <p:nvPr/>
        </p:nvSpPr>
        <p:spPr>
          <a:xfrm>
            <a:off x="2379821" y="0"/>
            <a:ext cx="7432358" cy="646331"/>
          </a:xfrm>
          <a:prstGeom prst="rect">
            <a:avLst/>
          </a:prstGeom>
          <a:noFill/>
        </p:spPr>
        <p:txBody>
          <a:bodyPr wrap="square" rtlCol="0">
            <a:spAutoFit/>
          </a:bodyPr>
          <a:lstStyle/>
          <a:p>
            <a:pPr algn="ctr"/>
            <a:r>
              <a:rPr lang="en-IN" sz="3600" u="sng" dirty="0">
                <a:latin typeface="Calibri" panose="020F0502020204030204" pitchFamily="34" charset="0"/>
                <a:ea typeface="Calibri" panose="020F0502020204030204" pitchFamily="34" charset="0"/>
                <a:cs typeface="Calibri" panose="020F0502020204030204" pitchFamily="34" charset="0"/>
              </a:rPr>
              <a:t>Passes</a:t>
            </a:r>
          </a:p>
        </p:txBody>
      </p:sp>
      <p:sp>
        <p:nvSpPr>
          <p:cNvPr id="3" name="TextBox 2">
            <a:extLst>
              <a:ext uri="{FF2B5EF4-FFF2-40B4-BE49-F238E27FC236}">
                <a16:creationId xmlns:a16="http://schemas.microsoft.com/office/drawing/2014/main" id="{52C5A930-3E78-8FAC-CF87-DB9ACC190806}"/>
              </a:ext>
            </a:extLst>
          </p:cNvPr>
          <p:cNvSpPr txBox="1"/>
          <p:nvPr/>
        </p:nvSpPr>
        <p:spPr>
          <a:xfrm>
            <a:off x="348996" y="646331"/>
            <a:ext cx="11494008" cy="6186309"/>
          </a:xfrm>
          <a:prstGeom prst="rect">
            <a:avLst/>
          </a:prstGeom>
          <a:noFill/>
        </p:spPr>
        <p:txBody>
          <a:bodyPr wrap="square" rtlCol="0">
            <a:spAutoFit/>
          </a:bodyPr>
          <a:lstStyle/>
          <a:p>
            <a:r>
              <a:rPr lang="en-US" dirty="0">
                <a:latin typeface="Calibri" panose="020F0502020204030204" pitchFamily="34" charset="0"/>
                <a:ea typeface="Calibri" panose="020F0502020204030204" pitchFamily="34" charset="0"/>
                <a:cs typeface="Calibri" panose="020F0502020204030204" pitchFamily="34" charset="0"/>
              </a:rPr>
              <a:t>Pass refers to the traversal of a compiler through the entire program.</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There are two types of compilers:</a:t>
            </a: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Single-Pass Compiler</a:t>
            </a: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Multi-Pass Compiler</a:t>
            </a:r>
          </a:p>
          <a:p>
            <a:pPr marL="285750" indent="-285750">
              <a:buFont typeface="Arial" panose="020B0604020202020204" pitchFamily="34" charset="0"/>
              <a:buChar char="•"/>
            </a:pPr>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Single-Pass Compiler:</a:t>
            </a:r>
          </a:p>
          <a:p>
            <a:pPr marL="285750" indent="-285750">
              <a:buFont typeface="Wingdings" panose="05000000000000000000" pitchFamily="2" charset="2"/>
              <a:buChar char="ü"/>
            </a:pPr>
            <a:r>
              <a:rPr lang="en-US" dirty="0">
                <a:latin typeface="Calibri" panose="020F0502020204030204" pitchFamily="34" charset="0"/>
                <a:ea typeface="Calibri" panose="020F0502020204030204" pitchFamily="34" charset="0"/>
                <a:cs typeface="Calibri" panose="020F0502020204030204" pitchFamily="34" charset="0"/>
              </a:rPr>
              <a:t>One-Time Processing – Reads and processes the source code in a single pass, translating it directly into assembly code.</a:t>
            </a:r>
          </a:p>
          <a:p>
            <a:pPr marL="285750" indent="-285750">
              <a:buFont typeface="Wingdings" panose="05000000000000000000" pitchFamily="2" charset="2"/>
              <a:buChar char="ü"/>
            </a:pPr>
            <a:r>
              <a:rPr lang="en-US" dirty="0">
                <a:latin typeface="Calibri" panose="020F0502020204030204" pitchFamily="34" charset="0"/>
                <a:ea typeface="Calibri" panose="020F0502020204030204" pitchFamily="34" charset="0"/>
                <a:cs typeface="Calibri" panose="020F0502020204030204" pitchFamily="34" charset="0"/>
              </a:rPr>
              <a:t>Speed Advantage due to single traversal of source code</a:t>
            </a:r>
          </a:p>
          <a:p>
            <a:pPr marL="285750" indent="-285750">
              <a:buFont typeface="Wingdings" panose="05000000000000000000" pitchFamily="2" charset="2"/>
              <a:buChar char="ü"/>
            </a:pPr>
            <a:r>
              <a:rPr lang="en-US" dirty="0">
                <a:latin typeface="Calibri" panose="020F0502020204030204" pitchFamily="34" charset="0"/>
                <a:ea typeface="Calibri" panose="020F0502020204030204" pitchFamily="34" charset="0"/>
                <a:cs typeface="Calibri" panose="020F0502020204030204" pitchFamily="34" charset="0"/>
              </a:rPr>
              <a:t>Memory efficient as it does not store extensive intermediate state information</a:t>
            </a:r>
          </a:p>
          <a:p>
            <a:pPr marL="285750" indent="-285750">
              <a:buFont typeface="Wingdings" panose="05000000000000000000" pitchFamily="2" charset="2"/>
              <a:buChar char="ü"/>
            </a:pPr>
            <a:r>
              <a:rPr lang="en-US" dirty="0">
                <a:latin typeface="Calibri" panose="020F0502020204030204" pitchFamily="34" charset="0"/>
                <a:ea typeface="Calibri" panose="020F0502020204030204" pitchFamily="34" charset="0"/>
                <a:cs typeface="Calibri" panose="020F0502020204030204" pitchFamily="34" charset="0"/>
              </a:rPr>
              <a:t>Optimization limitations</a:t>
            </a:r>
          </a:p>
          <a:p>
            <a:pPr marL="285750" indent="-285750">
              <a:buFont typeface="Wingdings" panose="05000000000000000000" pitchFamily="2" charset="2"/>
              <a:buChar char="ü"/>
            </a:pPr>
            <a:r>
              <a:rPr lang="en-US" dirty="0">
                <a:latin typeface="Calibri" panose="020F0502020204030204" pitchFamily="34" charset="0"/>
                <a:ea typeface="Calibri" panose="020F0502020204030204" pitchFamily="34" charset="0"/>
                <a:cs typeface="Calibri" panose="020F0502020204030204" pitchFamily="34" charset="0"/>
              </a:rPr>
              <a:t>Best for simple languages</a:t>
            </a:r>
          </a:p>
          <a:p>
            <a:pPr marL="285750" indent="-285750">
              <a:buFont typeface="Wingdings" panose="05000000000000000000" pitchFamily="2" charset="2"/>
              <a:buChar char="ü"/>
            </a:pPr>
            <a:r>
              <a:rPr lang="en-US" dirty="0">
                <a:latin typeface="Calibri" panose="020F0502020204030204" pitchFamily="34" charset="0"/>
                <a:ea typeface="Calibri" panose="020F0502020204030204" pitchFamily="34" charset="0"/>
                <a:cs typeface="Calibri" panose="020F0502020204030204" pitchFamily="34" charset="0"/>
              </a:rPr>
              <a:t>Example: Early FORTRAN compilers</a:t>
            </a:r>
          </a:p>
          <a:p>
            <a:pPr marL="285750" indent="-285750">
              <a:buFont typeface="Wingdings" panose="05000000000000000000" pitchFamily="2" charset="2"/>
              <a:buChar char="ü"/>
            </a:pPr>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Multi-Pass Compiler:</a:t>
            </a:r>
          </a:p>
          <a:p>
            <a:pPr marL="285750" indent="-285750">
              <a:buFont typeface="Wingdings" panose="05000000000000000000" pitchFamily="2" charset="2"/>
              <a:buChar char="ü"/>
            </a:pPr>
            <a:r>
              <a:rPr lang="en-US" dirty="0">
                <a:latin typeface="Calibri" panose="020F0502020204030204" pitchFamily="34" charset="0"/>
                <a:ea typeface="Calibri" panose="020F0502020204030204" pitchFamily="34" charset="0"/>
                <a:cs typeface="Calibri" panose="020F0502020204030204" pitchFamily="34" charset="0"/>
              </a:rPr>
              <a:t>Multiple scans of source code</a:t>
            </a:r>
          </a:p>
          <a:p>
            <a:pPr marL="285750" indent="-285750">
              <a:buFont typeface="Wingdings" panose="05000000000000000000" pitchFamily="2" charset="2"/>
              <a:buChar char="ü"/>
            </a:pPr>
            <a:r>
              <a:rPr lang="en-US" dirty="0">
                <a:latin typeface="Calibri" panose="020F0502020204030204" pitchFamily="34" charset="0"/>
                <a:ea typeface="Calibri" panose="020F0502020204030204" pitchFamily="34" charset="0"/>
                <a:cs typeface="Calibri" panose="020F0502020204030204" pitchFamily="34" charset="0"/>
              </a:rPr>
              <a:t>Advanced Optimizations</a:t>
            </a:r>
          </a:p>
          <a:p>
            <a:pPr marL="285750" indent="-285750">
              <a:buFont typeface="Wingdings" panose="05000000000000000000" pitchFamily="2" charset="2"/>
              <a:buChar char="ü"/>
            </a:pPr>
            <a:r>
              <a:rPr lang="en-US" dirty="0">
                <a:latin typeface="Calibri" panose="020F0502020204030204" pitchFamily="34" charset="0"/>
                <a:ea typeface="Calibri" panose="020F0502020204030204" pitchFamily="34" charset="0"/>
                <a:cs typeface="Calibri" panose="020F0502020204030204" pitchFamily="34" charset="0"/>
              </a:rPr>
              <a:t>Context Awareness: Deeper understanding of the program’s context which allows for more sophisticated error checking and optimization.</a:t>
            </a:r>
          </a:p>
          <a:p>
            <a:pPr marL="285750" indent="-285750">
              <a:buFont typeface="Wingdings" panose="05000000000000000000" pitchFamily="2" charset="2"/>
              <a:buChar char="ü"/>
            </a:pPr>
            <a:r>
              <a:rPr lang="en-US" dirty="0">
                <a:latin typeface="Calibri" panose="020F0502020204030204" pitchFamily="34" charset="0"/>
                <a:ea typeface="Calibri" panose="020F0502020204030204" pitchFamily="34" charset="0"/>
                <a:cs typeface="Calibri" panose="020F0502020204030204" pitchFamily="34" charset="0"/>
              </a:rPr>
              <a:t>Memory usage: More than single-pass compilers as they need to maintain intermediate representations of the source code between passes.</a:t>
            </a:r>
          </a:p>
          <a:p>
            <a:pPr marL="285750" indent="-285750">
              <a:buFont typeface="Wingdings" panose="05000000000000000000" pitchFamily="2" charset="2"/>
              <a:buChar char="ü"/>
            </a:pPr>
            <a:r>
              <a:rPr lang="en-US" dirty="0">
                <a:latin typeface="Calibri" panose="020F0502020204030204" pitchFamily="34" charset="0"/>
                <a:ea typeface="Calibri" panose="020F0502020204030204" pitchFamily="34" charset="0"/>
                <a:cs typeface="Calibri" panose="020F0502020204030204" pitchFamily="34" charset="0"/>
              </a:rPr>
              <a:t>Example: GCC</a:t>
            </a:r>
          </a:p>
        </p:txBody>
      </p:sp>
    </p:spTree>
    <p:extLst>
      <p:ext uri="{BB962C8B-B14F-4D97-AF65-F5344CB8AC3E}">
        <p14:creationId xmlns:p14="http://schemas.microsoft.com/office/powerpoint/2010/main" val="17543492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6C3CD-83A2-A0BB-131A-726A42516FA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91293E0-C7E5-9139-B12E-4DE3F5A508F5}"/>
              </a:ext>
            </a:extLst>
          </p:cNvPr>
          <p:cNvSpPr txBox="1"/>
          <p:nvPr/>
        </p:nvSpPr>
        <p:spPr>
          <a:xfrm>
            <a:off x="1464754" y="87975"/>
            <a:ext cx="9262491" cy="646331"/>
          </a:xfrm>
          <a:prstGeom prst="rect">
            <a:avLst/>
          </a:prstGeom>
          <a:noFill/>
        </p:spPr>
        <p:txBody>
          <a:bodyPr wrap="square" rtlCol="0">
            <a:spAutoFit/>
          </a:bodyPr>
          <a:lstStyle/>
          <a:p>
            <a:pPr algn="ctr"/>
            <a:r>
              <a:rPr lang="en-IN" sz="3600" u="sng" dirty="0">
                <a:latin typeface="Calibri" panose="020F0502020204030204" pitchFamily="34" charset="0"/>
                <a:ea typeface="Calibri" panose="020F0502020204030204" pitchFamily="34" charset="0"/>
                <a:cs typeface="Calibri" panose="020F0502020204030204" pitchFamily="34" charset="0"/>
              </a:rPr>
              <a:t>SYMBOL TABLE</a:t>
            </a:r>
          </a:p>
        </p:txBody>
      </p:sp>
      <p:sp>
        <p:nvSpPr>
          <p:cNvPr id="3" name="TextBox 2">
            <a:extLst>
              <a:ext uri="{FF2B5EF4-FFF2-40B4-BE49-F238E27FC236}">
                <a16:creationId xmlns:a16="http://schemas.microsoft.com/office/drawing/2014/main" id="{CF60E85A-F056-6772-FA7F-48C23F37947C}"/>
              </a:ext>
            </a:extLst>
          </p:cNvPr>
          <p:cNvSpPr txBox="1"/>
          <p:nvPr/>
        </p:nvSpPr>
        <p:spPr>
          <a:xfrm>
            <a:off x="1117091" y="1166842"/>
            <a:ext cx="9957816" cy="4524315"/>
          </a:xfrm>
          <a:prstGeom prst="rect">
            <a:avLst/>
          </a:prstGeom>
          <a:noFill/>
        </p:spPr>
        <p:txBody>
          <a:bodyPr wrap="square" rtlCol="0">
            <a:spAutoFit/>
          </a:bodyPr>
          <a:lstStyle/>
          <a:p>
            <a:r>
              <a:rPr lang="en-US" dirty="0">
                <a:latin typeface="Calibri" panose="020F0502020204030204" pitchFamily="34" charset="0"/>
                <a:ea typeface="Calibri" panose="020F0502020204030204" pitchFamily="34" charset="0"/>
                <a:cs typeface="Calibri" panose="020F0502020204030204" pitchFamily="34" charset="0"/>
              </a:rPr>
              <a:t>With the emergence of high-level programming languages, there was a need for a language translator which can convert the high-level language to assembly language, which is then converted by an assembler to machine language.</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This language translator which can convert the high-level language to assembly language is basically the </a:t>
            </a:r>
            <a:r>
              <a:rPr lang="en-US" b="1" dirty="0">
                <a:latin typeface="Calibri" panose="020F0502020204030204" pitchFamily="34" charset="0"/>
                <a:ea typeface="Calibri" panose="020F0502020204030204" pitchFamily="34" charset="0"/>
                <a:cs typeface="Calibri" panose="020F0502020204030204" pitchFamily="34" charset="0"/>
              </a:rPr>
              <a:t>compiler</a:t>
            </a:r>
            <a:r>
              <a:rPr lang="en-US" dirty="0">
                <a:latin typeface="Calibri" panose="020F0502020204030204" pitchFamily="34" charset="0"/>
                <a:ea typeface="Calibri" panose="020F0502020204030204" pitchFamily="34" charset="0"/>
                <a:cs typeface="Calibri" panose="020F0502020204030204" pitchFamily="34" charset="0"/>
              </a:rPr>
              <a:t>.</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On the other hand, there is another type of language translator which differs from the compiler in the sense that it directly executes high-level code line by line without generating intermediate assembly or machine code files. It reads one line (or statement) of high-level code, converts it directly into machine instructions in memory and executes the machine instructions immediately. This process is then repeated for the next lines of code until the whole program is executed. This type of language translator is known as the </a:t>
            </a:r>
            <a:r>
              <a:rPr lang="en-US" b="1" dirty="0">
                <a:latin typeface="Calibri" panose="020F0502020204030204" pitchFamily="34" charset="0"/>
                <a:ea typeface="Calibri" panose="020F0502020204030204" pitchFamily="34" charset="0"/>
                <a:cs typeface="Calibri" panose="020F0502020204030204" pitchFamily="34" charset="0"/>
              </a:rPr>
              <a:t>interpreter</a:t>
            </a:r>
            <a:r>
              <a:rPr lang="en-US" dirty="0">
                <a:latin typeface="Calibri" panose="020F0502020204030204" pitchFamily="34" charset="0"/>
                <a:ea typeface="Calibri" panose="020F0502020204030204" pitchFamily="34" charset="0"/>
                <a:cs typeface="Calibri" panose="020F0502020204030204" pitchFamily="34" charset="0"/>
              </a:rPr>
              <a:t>.</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Now let’s talk in detail about these two primary types of language translators – compilers and interpreters.</a:t>
            </a:r>
          </a:p>
        </p:txBody>
      </p:sp>
    </p:spTree>
    <p:extLst>
      <p:ext uri="{BB962C8B-B14F-4D97-AF65-F5344CB8AC3E}">
        <p14:creationId xmlns:p14="http://schemas.microsoft.com/office/powerpoint/2010/main" val="19669049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07C52-21AD-B700-16E8-B29B9998D56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4E070C5-B69E-E7C3-062A-B8FFAD50808C}"/>
              </a:ext>
            </a:extLst>
          </p:cNvPr>
          <p:cNvSpPr txBox="1"/>
          <p:nvPr/>
        </p:nvSpPr>
        <p:spPr>
          <a:xfrm>
            <a:off x="1464754" y="87975"/>
            <a:ext cx="9262491" cy="646331"/>
          </a:xfrm>
          <a:prstGeom prst="rect">
            <a:avLst/>
          </a:prstGeom>
          <a:noFill/>
        </p:spPr>
        <p:txBody>
          <a:bodyPr wrap="square" rtlCol="0">
            <a:spAutoFit/>
          </a:bodyPr>
          <a:lstStyle/>
          <a:p>
            <a:pPr algn="ctr"/>
            <a:r>
              <a:rPr lang="en-IN" sz="3600" u="sng" dirty="0">
                <a:latin typeface="Calibri" panose="020F0502020204030204" pitchFamily="34" charset="0"/>
                <a:ea typeface="Calibri" panose="020F0502020204030204" pitchFamily="34" charset="0"/>
                <a:cs typeface="Calibri" panose="020F0502020204030204" pitchFamily="34" charset="0"/>
              </a:rPr>
              <a:t>LEXICAL ANALYSIS</a:t>
            </a:r>
          </a:p>
        </p:txBody>
      </p:sp>
      <p:sp>
        <p:nvSpPr>
          <p:cNvPr id="3" name="TextBox 2">
            <a:extLst>
              <a:ext uri="{FF2B5EF4-FFF2-40B4-BE49-F238E27FC236}">
                <a16:creationId xmlns:a16="http://schemas.microsoft.com/office/drawing/2014/main" id="{E04401D1-EC58-5A32-939A-AE0A92136AD5}"/>
              </a:ext>
            </a:extLst>
          </p:cNvPr>
          <p:cNvSpPr txBox="1"/>
          <p:nvPr/>
        </p:nvSpPr>
        <p:spPr>
          <a:xfrm>
            <a:off x="1117091" y="734306"/>
            <a:ext cx="9957816" cy="1754326"/>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The lexical analyzer takes the C program (stream of characters) as input, scans every character of the program and groups characters into tokens to produce the token stream (using Maximal Munch Rule).</a:t>
            </a: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It makes an entry of identifiers into the symbol table.</a:t>
            </a: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Besides tokenizing, the lexical analyzer also removes whitespaces (spaces, tabs, newlines), ignores comments (starting with //), and reports lexical errors to the error handler (like illegal characters: @, # etc. in variable names).</a:t>
            </a:r>
          </a:p>
        </p:txBody>
      </p:sp>
      <p:sp>
        <p:nvSpPr>
          <p:cNvPr id="6" name="TextBox 5">
            <a:extLst>
              <a:ext uri="{FF2B5EF4-FFF2-40B4-BE49-F238E27FC236}">
                <a16:creationId xmlns:a16="http://schemas.microsoft.com/office/drawing/2014/main" id="{57C8B0F9-E4E2-6892-9765-827CF6CC1485}"/>
              </a:ext>
            </a:extLst>
          </p:cNvPr>
          <p:cNvSpPr txBox="1"/>
          <p:nvPr/>
        </p:nvSpPr>
        <p:spPr>
          <a:xfrm>
            <a:off x="1117091" y="3134963"/>
            <a:ext cx="1324357" cy="923330"/>
          </a:xfrm>
          <a:prstGeom prst="rect">
            <a:avLst/>
          </a:prstGeom>
          <a:noFill/>
        </p:spPr>
        <p:txBody>
          <a:bodyPr wrap="square" rtlCol="0">
            <a:spAutoFit/>
          </a:bodyPr>
          <a:lstStyle/>
          <a:p>
            <a:r>
              <a:rPr lang="en-IN" dirty="0">
                <a:latin typeface="Calibri" panose="020F0502020204030204" pitchFamily="34" charset="0"/>
                <a:ea typeface="Calibri" panose="020F0502020204030204" pitchFamily="34" charset="0"/>
                <a:cs typeface="Calibri" panose="020F0502020204030204" pitchFamily="34" charset="0"/>
              </a:rPr>
              <a:t>Example:</a:t>
            </a:r>
          </a:p>
          <a:p>
            <a:endParaRPr lang="en-IN" dirty="0">
              <a:latin typeface="Calibri" panose="020F0502020204030204" pitchFamily="34" charset="0"/>
              <a:ea typeface="Calibri" panose="020F0502020204030204" pitchFamily="34" charset="0"/>
              <a:cs typeface="Calibri" panose="020F0502020204030204" pitchFamily="34" charset="0"/>
            </a:endParaRPr>
          </a:p>
          <a:p>
            <a:r>
              <a:rPr lang="en-IN" dirty="0">
                <a:latin typeface="Calibri" panose="020F0502020204030204" pitchFamily="34" charset="0"/>
                <a:ea typeface="Calibri" panose="020F0502020204030204" pitchFamily="34" charset="0"/>
                <a:cs typeface="Calibri" panose="020F0502020204030204" pitchFamily="34" charset="0"/>
              </a:rPr>
              <a:t>int x = 5 + y;</a:t>
            </a:r>
          </a:p>
        </p:txBody>
      </p:sp>
      <p:graphicFrame>
        <p:nvGraphicFramePr>
          <p:cNvPr id="8" name="Table 7">
            <a:extLst>
              <a:ext uri="{FF2B5EF4-FFF2-40B4-BE49-F238E27FC236}">
                <a16:creationId xmlns:a16="http://schemas.microsoft.com/office/drawing/2014/main" id="{4D6E0C0E-461B-E46E-7E37-A8DAD150117D}"/>
              </a:ext>
            </a:extLst>
          </p:cNvPr>
          <p:cNvGraphicFramePr>
            <a:graphicFrameLocks noGrp="1"/>
          </p:cNvGraphicFramePr>
          <p:nvPr>
            <p:extLst>
              <p:ext uri="{D42A27DB-BD31-4B8C-83A1-F6EECF244321}">
                <p14:modId xmlns:p14="http://schemas.microsoft.com/office/powerpoint/2010/main" val="89542220"/>
              </p:ext>
            </p:extLst>
          </p:nvPr>
        </p:nvGraphicFramePr>
        <p:xfrm>
          <a:off x="3458971" y="2813642"/>
          <a:ext cx="5274056" cy="2966720"/>
        </p:xfrm>
        <a:graphic>
          <a:graphicData uri="http://schemas.openxmlformats.org/drawingml/2006/table">
            <a:tbl>
              <a:tblPr firstRow="1" bandRow="1">
                <a:tableStyleId>{912C8C85-51F0-491E-9774-3900AFEF0FD7}</a:tableStyleId>
              </a:tblPr>
              <a:tblGrid>
                <a:gridCol w="2637028">
                  <a:extLst>
                    <a:ext uri="{9D8B030D-6E8A-4147-A177-3AD203B41FA5}">
                      <a16:colId xmlns:a16="http://schemas.microsoft.com/office/drawing/2014/main" val="2880539224"/>
                    </a:ext>
                  </a:extLst>
                </a:gridCol>
                <a:gridCol w="2637028">
                  <a:extLst>
                    <a:ext uri="{9D8B030D-6E8A-4147-A177-3AD203B41FA5}">
                      <a16:colId xmlns:a16="http://schemas.microsoft.com/office/drawing/2014/main" val="3549928110"/>
                    </a:ext>
                  </a:extLst>
                </a:gridCol>
              </a:tblGrid>
              <a:tr h="370840">
                <a:tc>
                  <a:txBody>
                    <a:bodyPr/>
                    <a:lstStyle/>
                    <a:p>
                      <a:pPr algn="ctr"/>
                      <a:r>
                        <a:rPr lang="en-IN" dirty="0"/>
                        <a:t>Lexemes</a:t>
                      </a:r>
                      <a:endParaRPr lang="en-IN" dirty="0">
                        <a:latin typeface="Calibri" panose="020F0502020204030204" pitchFamily="34" charset="0"/>
                        <a:ea typeface="Calibri" panose="020F0502020204030204" pitchFamily="34" charset="0"/>
                        <a:cs typeface="Calibri" panose="020F0502020204030204" pitchFamily="34" charset="0"/>
                      </a:endParaRPr>
                    </a:p>
                  </a:txBody>
                  <a:tcPr/>
                </a:tc>
                <a:tc>
                  <a:txBody>
                    <a:bodyPr/>
                    <a:lstStyle/>
                    <a:p>
                      <a:pPr algn="ctr"/>
                      <a:r>
                        <a:rPr lang="en-IN" dirty="0"/>
                        <a:t>Tokens</a:t>
                      </a:r>
                      <a:endParaRPr lang="en-IN" dirty="0">
                        <a:latin typeface="Calibri" panose="020F0502020204030204" pitchFamily="34" charset="0"/>
                        <a:ea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1382319431"/>
                  </a:ext>
                </a:extLst>
              </a:tr>
              <a:tr h="370840">
                <a:tc>
                  <a:txBody>
                    <a:bodyPr/>
                    <a:lstStyle/>
                    <a:p>
                      <a:pPr algn="ctr"/>
                      <a:r>
                        <a:rPr lang="en-IN" dirty="0"/>
                        <a:t>int</a:t>
                      </a:r>
                      <a:endParaRPr lang="en-IN" dirty="0">
                        <a:latin typeface="Calibri" panose="020F0502020204030204" pitchFamily="34" charset="0"/>
                        <a:ea typeface="Calibri" panose="020F0502020204030204" pitchFamily="34" charset="0"/>
                        <a:cs typeface="Calibri" panose="020F0502020204030204" pitchFamily="34" charset="0"/>
                      </a:endParaRPr>
                    </a:p>
                  </a:txBody>
                  <a:tcPr/>
                </a:tc>
                <a:tc>
                  <a:txBody>
                    <a:bodyPr/>
                    <a:lstStyle/>
                    <a:p>
                      <a:pPr algn="ctr"/>
                      <a:r>
                        <a:rPr lang="en-IN" dirty="0"/>
                        <a:t>Keyword</a:t>
                      </a:r>
                      <a:endParaRPr lang="en-IN" dirty="0">
                        <a:latin typeface="Calibri" panose="020F0502020204030204" pitchFamily="34" charset="0"/>
                        <a:ea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1266414626"/>
                  </a:ext>
                </a:extLst>
              </a:tr>
              <a:tr h="370840">
                <a:tc>
                  <a:txBody>
                    <a:bodyPr/>
                    <a:lstStyle/>
                    <a:p>
                      <a:pPr algn="ctr"/>
                      <a:r>
                        <a:rPr lang="en-IN" dirty="0"/>
                        <a:t>x</a:t>
                      </a:r>
                      <a:endParaRPr lang="en-IN" dirty="0">
                        <a:latin typeface="Calibri" panose="020F0502020204030204" pitchFamily="34" charset="0"/>
                        <a:ea typeface="Calibri" panose="020F0502020204030204" pitchFamily="34" charset="0"/>
                        <a:cs typeface="Calibri" panose="020F0502020204030204" pitchFamily="34" charset="0"/>
                      </a:endParaRPr>
                    </a:p>
                  </a:txBody>
                  <a:tcPr/>
                </a:tc>
                <a:tc>
                  <a:txBody>
                    <a:bodyPr/>
                    <a:lstStyle/>
                    <a:p>
                      <a:pPr algn="ctr"/>
                      <a:r>
                        <a:rPr lang="en-IN" dirty="0"/>
                        <a:t>Identifier</a:t>
                      </a:r>
                      <a:endParaRPr lang="en-IN" dirty="0">
                        <a:latin typeface="Calibri" panose="020F0502020204030204" pitchFamily="34" charset="0"/>
                        <a:ea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210740277"/>
                  </a:ext>
                </a:extLst>
              </a:tr>
              <a:tr h="370840">
                <a:tc>
                  <a:txBody>
                    <a:bodyPr/>
                    <a:lstStyle/>
                    <a:p>
                      <a:pPr algn="ctr"/>
                      <a:r>
                        <a:rPr lang="en-IN" dirty="0"/>
                        <a:t>=</a:t>
                      </a:r>
                      <a:endParaRPr lang="en-IN" dirty="0">
                        <a:latin typeface="Calibri" panose="020F0502020204030204" pitchFamily="34" charset="0"/>
                        <a:ea typeface="Calibri" panose="020F0502020204030204" pitchFamily="34" charset="0"/>
                        <a:cs typeface="Calibri" panose="020F0502020204030204" pitchFamily="34" charset="0"/>
                      </a:endParaRPr>
                    </a:p>
                  </a:txBody>
                  <a:tcPr/>
                </a:tc>
                <a:tc>
                  <a:txBody>
                    <a:bodyPr/>
                    <a:lstStyle/>
                    <a:p>
                      <a:pPr algn="ctr"/>
                      <a:r>
                        <a:rPr lang="en-IN" dirty="0"/>
                        <a:t>Operator</a:t>
                      </a:r>
                      <a:endParaRPr lang="en-IN" dirty="0">
                        <a:latin typeface="Calibri" panose="020F0502020204030204" pitchFamily="34" charset="0"/>
                        <a:ea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2354160895"/>
                  </a:ext>
                </a:extLst>
              </a:tr>
              <a:tr h="370840">
                <a:tc>
                  <a:txBody>
                    <a:bodyPr/>
                    <a:lstStyle/>
                    <a:p>
                      <a:pPr algn="ctr"/>
                      <a:r>
                        <a:rPr lang="en-IN" dirty="0"/>
                        <a:t>5</a:t>
                      </a:r>
                      <a:endParaRPr lang="en-IN" dirty="0">
                        <a:latin typeface="Calibri" panose="020F0502020204030204" pitchFamily="34" charset="0"/>
                        <a:ea typeface="Calibri" panose="020F0502020204030204" pitchFamily="34" charset="0"/>
                        <a:cs typeface="Calibri" panose="020F0502020204030204" pitchFamily="34" charset="0"/>
                      </a:endParaRPr>
                    </a:p>
                  </a:txBody>
                  <a:tcPr/>
                </a:tc>
                <a:tc>
                  <a:txBody>
                    <a:bodyPr/>
                    <a:lstStyle/>
                    <a:p>
                      <a:pPr algn="ctr"/>
                      <a:r>
                        <a:rPr lang="en-IN" dirty="0"/>
                        <a:t>Literal </a:t>
                      </a:r>
                      <a:endParaRPr lang="en-IN" dirty="0">
                        <a:latin typeface="Calibri" panose="020F0502020204030204" pitchFamily="34" charset="0"/>
                        <a:ea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1994576141"/>
                  </a:ext>
                </a:extLst>
              </a:tr>
              <a:tr h="370840">
                <a:tc>
                  <a:txBody>
                    <a:bodyPr/>
                    <a:lstStyle/>
                    <a:p>
                      <a:pPr algn="ctr"/>
                      <a:r>
                        <a:rPr lang="en-IN" dirty="0"/>
                        <a:t>+</a:t>
                      </a:r>
                      <a:endParaRPr lang="en-IN" dirty="0">
                        <a:latin typeface="Calibri" panose="020F0502020204030204" pitchFamily="34" charset="0"/>
                        <a:ea typeface="Calibri" panose="020F0502020204030204" pitchFamily="34" charset="0"/>
                        <a:cs typeface="Calibri" panose="020F0502020204030204" pitchFamily="34" charset="0"/>
                      </a:endParaRPr>
                    </a:p>
                  </a:txBody>
                  <a:tcPr/>
                </a:tc>
                <a:tc>
                  <a:txBody>
                    <a:bodyPr/>
                    <a:lstStyle/>
                    <a:p>
                      <a:pPr algn="ctr"/>
                      <a:r>
                        <a:rPr lang="en-IN" dirty="0"/>
                        <a:t>Operator</a:t>
                      </a:r>
                      <a:endParaRPr lang="en-IN" dirty="0">
                        <a:latin typeface="Calibri" panose="020F0502020204030204" pitchFamily="34" charset="0"/>
                        <a:ea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1786099630"/>
                  </a:ext>
                </a:extLst>
              </a:tr>
              <a:tr h="370840">
                <a:tc>
                  <a:txBody>
                    <a:bodyPr/>
                    <a:lstStyle/>
                    <a:p>
                      <a:pPr algn="ctr"/>
                      <a:r>
                        <a:rPr lang="en-IN" dirty="0"/>
                        <a:t>y</a:t>
                      </a:r>
                      <a:endParaRPr lang="en-IN" dirty="0">
                        <a:latin typeface="Calibri" panose="020F0502020204030204" pitchFamily="34" charset="0"/>
                        <a:ea typeface="Calibri" panose="020F0502020204030204" pitchFamily="34" charset="0"/>
                        <a:cs typeface="Calibri" panose="020F0502020204030204" pitchFamily="34" charset="0"/>
                      </a:endParaRPr>
                    </a:p>
                  </a:txBody>
                  <a:tcPr/>
                </a:tc>
                <a:tc>
                  <a:txBody>
                    <a:bodyPr/>
                    <a:lstStyle/>
                    <a:p>
                      <a:pPr algn="ctr"/>
                      <a:r>
                        <a:rPr lang="en-IN" dirty="0"/>
                        <a:t>Identifier</a:t>
                      </a:r>
                      <a:endParaRPr lang="en-IN" dirty="0">
                        <a:latin typeface="Calibri" panose="020F0502020204030204" pitchFamily="34" charset="0"/>
                        <a:ea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2055069211"/>
                  </a:ext>
                </a:extLst>
              </a:tr>
              <a:tr h="370840">
                <a:tc>
                  <a:txBody>
                    <a:bodyPr/>
                    <a:lstStyle/>
                    <a:p>
                      <a:pPr algn="ctr"/>
                      <a:r>
                        <a:rPr lang="en-IN" dirty="0"/>
                        <a:t>;</a:t>
                      </a:r>
                      <a:endParaRPr lang="en-IN" dirty="0">
                        <a:latin typeface="Calibri" panose="020F0502020204030204" pitchFamily="34" charset="0"/>
                        <a:ea typeface="Calibri" panose="020F0502020204030204" pitchFamily="34" charset="0"/>
                        <a:cs typeface="Calibri" panose="020F0502020204030204" pitchFamily="34" charset="0"/>
                      </a:endParaRPr>
                    </a:p>
                  </a:txBody>
                  <a:tcPr/>
                </a:tc>
                <a:tc>
                  <a:txBody>
                    <a:bodyPr/>
                    <a:lstStyle/>
                    <a:p>
                      <a:pPr algn="ctr"/>
                      <a:r>
                        <a:rPr lang="en-IN" dirty="0"/>
                        <a:t>Separator</a:t>
                      </a:r>
                      <a:endParaRPr lang="en-IN" dirty="0">
                        <a:latin typeface="Calibri" panose="020F0502020204030204" pitchFamily="34" charset="0"/>
                        <a:ea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1522546171"/>
                  </a:ext>
                </a:extLst>
              </a:tr>
            </a:tbl>
          </a:graphicData>
        </a:graphic>
      </p:graphicFrame>
      <p:sp>
        <p:nvSpPr>
          <p:cNvPr id="9" name="TextBox 8">
            <a:extLst>
              <a:ext uri="{FF2B5EF4-FFF2-40B4-BE49-F238E27FC236}">
                <a16:creationId xmlns:a16="http://schemas.microsoft.com/office/drawing/2014/main" id="{7E13F815-2097-A476-AB4D-A3051DE616AA}"/>
              </a:ext>
            </a:extLst>
          </p:cNvPr>
          <p:cNvSpPr txBox="1"/>
          <p:nvPr/>
        </p:nvSpPr>
        <p:spPr>
          <a:xfrm>
            <a:off x="365760" y="6103527"/>
            <a:ext cx="4343400" cy="646331"/>
          </a:xfrm>
          <a:prstGeom prst="rect">
            <a:avLst/>
          </a:prstGeom>
          <a:noFill/>
        </p:spPr>
        <p:txBody>
          <a:bodyPr wrap="square" rtlCol="0">
            <a:spAutoFit/>
          </a:bodyPr>
          <a:lstStyle/>
          <a:p>
            <a:pPr marL="285750" indent="-285750">
              <a:buFont typeface="Arial" panose="020B0604020202020204" pitchFamily="34" charset="0"/>
              <a:buChar char="•"/>
            </a:pPr>
            <a:r>
              <a:rPr lang="en-IN" dirty="0">
                <a:solidFill>
                  <a:schemeClr val="accent3">
                    <a:lumMod val="20000"/>
                    <a:lumOff val="80000"/>
                  </a:schemeClr>
                </a:solidFill>
                <a:latin typeface="Calibri" panose="020F0502020204030204" pitchFamily="34" charset="0"/>
                <a:ea typeface="Calibri" panose="020F0502020204030204" pitchFamily="34" charset="0"/>
                <a:cs typeface="Calibri" panose="020F0502020204030204" pitchFamily="34" charset="0"/>
              </a:rPr>
              <a:t>int 1abc;		</a:t>
            </a:r>
            <a:r>
              <a:rPr lang="en-IN" dirty="0">
                <a:solidFill>
                  <a:schemeClr val="accent3">
                    <a:lumMod val="20000"/>
                    <a:lumOff val="80000"/>
                  </a:schemeClr>
                </a:solidFill>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invalid sequence</a:t>
            </a:r>
          </a:p>
          <a:p>
            <a:pPr marL="285750" indent="-285750">
              <a:buFont typeface="Arial" panose="020B0604020202020204" pitchFamily="34" charset="0"/>
              <a:buChar char="•"/>
            </a:pPr>
            <a:r>
              <a:rPr lang="en-IN" dirty="0">
                <a:solidFill>
                  <a:schemeClr val="accent3">
                    <a:lumMod val="20000"/>
                    <a:lumOff val="80000"/>
                  </a:schemeClr>
                </a:solidFill>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char ch = ‘a;		end quote missing</a:t>
            </a:r>
          </a:p>
        </p:txBody>
      </p:sp>
      <p:sp>
        <p:nvSpPr>
          <p:cNvPr id="10" name="TextBox 9">
            <a:extLst>
              <a:ext uri="{FF2B5EF4-FFF2-40B4-BE49-F238E27FC236}">
                <a16:creationId xmlns:a16="http://schemas.microsoft.com/office/drawing/2014/main" id="{710A0249-1EF1-FE76-AEAD-FBA7BD72BFB5}"/>
              </a:ext>
            </a:extLst>
          </p:cNvPr>
          <p:cNvSpPr txBox="1"/>
          <p:nvPr/>
        </p:nvSpPr>
        <p:spPr>
          <a:xfrm>
            <a:off x="5760720" y="6242026"/>
            <a:ext cx="1426464" cy="369332"/>
          </a:xfrm>
          <a:prstGeom prst="rect">
            <a:avLst/>
          </a:prstGeom>
          <a:noFill/>
        </p:spPr>
        <p:txBody>
          <a:bodyPr wrap="square" rtlCol="0">
            <a:spAutoFit/>
          </a:bodyPr>
          <a:lstStyle/>
          <a:p>
            <a:r>
              <a:rPr lang="en-IN" dirty="0">
                <a:solidFill>
                  <a:schemeClr val="accent3">
                    <a:lumMod val="20000"/>
                    <a:lumOff val="80000"/>
                  </a:schemeClr>
                </a:solidFill>
                <a:latin typeface="Calibri" panose="020F0502020204030204" pitchFamily="34" charset="0"/>
                <a:ea typeface="Calibri" panose="020F0502020204030204" pitchFamily="34" charset="0"/>
                <a:cs typeface="Calibri" panose="020F0502020204030204" pitchFamily="34" charset="0"/>
              </a:rPr>
              <a:t>Lexical Errors</a:t>
            </a:r>
          </a:p>
        </p:txBody>
      </p:sp>
      <p:cxnSp>
        <p:nvCxnSpPr>
          <p:cNvPr id="12" name="Straight Arrow Connector 11">
            <a:extLst>
              <a:ext uri="{FF2B5EF4-FFF2-40B4-BE49-F238E27FC236}">
                <a16:creationId xmlns:a16="http://schemas.microsoft.com/office/drawing/2014/main" id="{E42002AE-F055-D88F-98BD-8E82A148B1FE}"/>
              </a:ext>
            </a:extLst>
          </p:cNvPr>
          <p:cNvCxnSpPr>
            <a:stCxn id="9" idx="3"/>
            <a:endCxn id="10" idx="1"/>
          </p:cNvCxnSpPr>
          <p:nvPr/>
        </p:nvCxnSpPr>
        <p:spPr>
          <a:xfrm flipV="1">
            <a:off x="4709160" y="6426692"/>
            <a:ext cx="1051560" cy="1"/>
          </a:xfrm>
          <a:prstGeom prst="straightConnector1">
            <a:avLst/>
          </a:prstGeom>
          <a:ln w="28575">
            <a:solidFill>
              <a:schemeClr val="bg1">
                <a:lumMod val="9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860545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9A44D-2733-9C10-A56C-13E4DB11749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53DD587-14E0-0618-F15D-C272CFFB91CC}"/>
              </a:ext>
            </a:extLst>
          </p:cNvPr>
          <p:cNvSpPr txBox="1"/>
          <p:nvPr/>
        </p:nvSpPr>
        <p:spPr>
          <a:xfrm>
            <a:off x="1464754" y="87975"/>
            <a:ext cx="9262491" cy="646331"/>
          </a:xfrm>
          <a:prstGeom prst="rect">
            <a:avLst/>
          </a:prstGeom>
          <a:noFill/>
        </p:spPr>
        <p:txBody>
          <a:bodyPr wrap="square" rtlCol="0">
            <a:spAutoFit/>
          </a:bodyPr>
          <a:lstStyle/>
          <a:p>
            <a:pPr algn="ctr"/>
            <a:r>
              <a:rPr lang="en-IN" sz="3600" u="sng" dirty="0">
                <a:latin typeface="Calibri" panose="020F0502020204030204" pitchFamily="34" charset="0"/>
                <a:ea typeface="Calibri" panose="020F0502020204030204" pitchFamily="34" charset="0"/>
                <a:cs typeface="Calibri" panose="020F0502020204030204" pitchFamily="34" charset="0"/>
              </a:rPr>
              <a:t>ERROR HANDLER</a:t>
            </a:r>
          </a:p>
        </p:txBody>
      </p:sp>
      <p:sp>
        <p:nvSpPr>
          <p:cNvPr id="5" name="TextBox 4">
            <a:extLst>
              <a:ext uri="{FF2B5EF4-FFF2-40B4-BE49-F238E27FC236}">
                <a16:creationId xmlns:a16="http://schemas.microsoft.com/office/drawing/2014/main" id="{53C2CF39-5015-62F1-9F26-C74469A64149}"/>
              </a:ext>
            </a:extLst>
          </p:cNvPr>
          <p:cNvSpPr txBox="1"/>
          <p:nvPr/>
        </p:nvSpPr>
        <p:spPr>
          <a:xfrm>
            <a:off x="1894331" y="1859339"/>
            <a:ext cx="8403336" cy="3139321"/>
          </a:xfrm>
          <a:prstGeom prst="rect">
            <a:avLst/>
          </a:prstGeom>
          <a:noFill/>
        </p:spPr>
        <p:txBody>
          <a:bodyPr wrap="square" rtlCol="0">
            <a:spAutoFit/>
          </a:bodyPr>
          <a:lstStyle/>
          <a:p>
            <a:r>
              <a:rPr lang="en-IN" dirty="0">
                <a:latin typeface="Calibri" panose="020F0502020204030204" pitchFamily="34" charset="0"/>
                <a:ea typeface="Calibri" panose="020F0502020204030204" pitchFamily="34" charset="0"/>
                <a:cs typeface="Calibri" panose="020F0502020204030204" pitchFamily="34" charset="0"/>
              </a:rPr>
              <a:t>Error handler is responsible to continue the compilation process even if any error occurs at any phase (1, 2 or 3). After phase 3 if the error handler object is empty, then the source code is free of error and it can be converted into target code. If the error handler object is not empty, the compilation process is terminated and the errors are displayed.</a:t>
            </a:r>
          </a:p>
          <a:p>
            <a:endParaRPr lang="en-IN" dirty="0">
              <a:latin typeface="Calibri" panose="020F0502020204030204" pitchFamily="34" charset="0"/>
              <a:ea typeface="Calibri" panose="020F0502020204030204" pitchFamily="34" charset="0"/>
              <a:cs typeface="Calibri" panose="020F0502020204030204" pitchFamily="34" charset="0"/>
            </a:endParaRPr>
          </a:p>
          <a:p>
            <a:r>
              <a:rPr lang="en-IN" dirty="0">
                <a:latin typeface="Calibri" panose="020F0502020204030204" pitchFamily="34" charset="0"/>
                <a:ea typeface="Calibri" panose="020F0502020204030204" pitchFamily="34" charset="0"/>
                <a:cs typeface="Calibri" panose="020F0502020204030204" pitchFamily="34" charset="0"/>
              </a:rPr>
              <a:t>There are three types of compilation errors:</a:t>
            </a:r>
          </a:p>
          <a:p>
            <a:pPr marL="285750" indent="-285750">
              <a:buFont typeface="Arial" panose="020B0604020202020204" pitchFamily="34" charset="0"/>
              <a:buChar char="•"/>
            </a:pPr>
            <a:r>
              <a:rPr lang="en-IN" dirty="0">
                <a:latin typeface="Calibri" panose="020F0502020204030204" pitchFamily="34" charset="0"/>
                <a:ea typeface="Calibri" panose="020F0502020204030204" pitchFamily="34" charset="0"/>
                <a:cs typeface="Calibri" panose="020F0502020204030204" pitchFamily="34" charset="0"/>
              </a:rPr>
              <a:t>Lexical Error</a:t>
            </a:r>
          </a:p>
          <a:p>
            <a:pPr marL="285750" indent="-285750">
              <a:buFont typeface="Arial" panose="020B0604020202020204" pitchFamily="34" charset="0"/>
              <a:buChar char="•"/>
            </a:pPr>
            <a:r>
              <a:rPr lang="en-IN" dirty="0">
                <a:latin typeface="Calibri" panose="020F0502020204030204" pitchFamily="34" charset="0"/>
                <a:ea typeface="Calibri" panose="020F0502020204030204" pitchFamily="34" charset="0"/>
                <a:cs typeface="Calibri" panose="020F0502020204030204" pitchFamily="34" charset="0"/>
              </a:rPr>
              <a:t>Syntax Error</a:t>
            </a:r>
          </a:p>
          <a:p>
            <a:pPr marL="285750" indent="-285750">
              <a:buFont typeface="Arial" panose="020B0604020202020204" pitchFamily="34" charset="0"/>
              <a:buChar char="•"/>
            </a:pPr>
            <a:r>
              <a:rPr lang="en-IN" dirty="0">
                <a:latin typeface="Calibri" panose="020F0502020204030204" pitchFamily="34" charset="0"/>
                <a:ea typeface="Calibri" panose="020F0502020204030204" pitchFamily="34" charset="0"/>
                <a:cs typeface="Calibri" panose="020F0502020204030204" pitchFamily="34" charset="0"/>
              </a:rPr>
              <a:t>Semantic Error</a:t>
            </a:r>
          </a:p>
          <a:p>
            <a:pPr marL="285750" indent="-285750">
              <a:buFont typeface="Arial" panose="020B0604020202020204" pitchFamily="34" charset="0"/>
              <a:buChar char="•"/>
            </a:pPr>
            <a:endParaRPr lang="en-IN" dirty="0">
              <a:latin typeface="Calibri" panose="020F0502020204030204" pitchFamily="34" charset="0"/>
              <a:ea typeface="Calibri" panose="020F0502020204030204" pitchFamily="34" charset="0"/>
              <a:cs typeface="Calibri" panose="020F0502020204030204" pitchFamily="34" charset="0"/>
            </a:endParaRPr>
          </a:p>
          <a:p>
            <a:r>
              <a:rPr lang="en-IN" dirty="0">
                <a:latin typeface="Calibri" panose="020F0502020204030204" pitchFamily="34" charset="0"/>
                <a:ea typeface="Calibri" panose="020F0502020204030204" pitchFamily="34" charset="0"/>
                <a:cs typeface="Calibri" panose="020F0502020204030204" pitchFamily="34" charset="0"/>
              </a:rPr>
              <a:t>However, runtime errors cannot be handled by compiler.</a:t>
            </a:r>
          </a:p>
        </p:txBody>
      </p:sp>
    </p:spTree>
    <p:extLst>
      <p:ext uri="{BB962C8B-B14F-4D97-AF65-F5344CB8AC3E}">
        <p14:creationId xmlns:p14="http://schemas.microsoft.com/office/powerpoint/2010/main" val="2765444991"/>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Wisp</Template>
  <TotalTime>2478</TotalTime>
  <Words>1351</Words>
  <Application>Microsoft Office PowerPoint</Application>
  <PresentationFormat>Widescreen</PresentationFormat>
  <Paragraphs>123</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Gill Sans MT</vt:lpstr>
      <vt:lpstr>Wingdings</vt:lpstr>
      <vt:lpstr>Gallery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Ishika Bhuin</dc:creator>
  <cp:lastModifiedBy>Ishika Bhuin</cp:lastModifiedBy>
  <cp:revision>5</cp:revision>
  <dcterms:created xsi:type="dcterms:W3CDTF">2025-04-01T18:33:36Z</dcterms:created>
  <dcterms:modified xsi:type="dcterms:W3CDTF">2025-04-09T07:02:00Z</dcterms:modified>
</cp:coreProperties>
</file>