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60" r:id="rId4"/>
    <p:sldId id="261" r:id="rId5"/>
    <p:sldId id="262"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40F8F4D-D638-406D-9636-15759F9C193C}" type="datetimeFigureOut">
              <a:rPr lang="en-IN" smtClean="0"/>
              <a:t>08-04-2025</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02B5525F-1988-4332-8C42-E68B3174E500}"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56485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0F8F4D-D638-406D-9636-15759F9C193C}" type="datetimeFigureOut">
              <a:rPr lang="en-IN" smtClean="0"/>
              <a:t>08-04-2025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B5525F-1988-4332-8C42-E68B3174E500}"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51223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0F8F4D-D638-406D-9636-15759F9C193C}" type="datetimeFigureOut">
              <a:rPr lang="en-IN" smtClean="0"/>
              <a:t>08-04-2025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B5525F-1988-4332-8C42-E68B3174E500}"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62491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40F8F4D-D638-406D-9636-15759F9C193C}" type="datetimeFigureOut">
              <a:rPr lang="en-IN" smtClean="0"/>
              <a:t>08-04-2025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B5525F-1988-4332-8C42-E68B3174E500}"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41098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0F8F4D-D638-406D-9636-15759F9C193C}" type="datetimeFigureOut">
              <a:rPr lang="en-IN" smtClean="0"/>
              <a:t>08-04-2025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2B5525F-1988-4332-8C42-E68B3174E500}"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97057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0F8F4D-D638-406D-9636-15759F9C193C}" type="datetimeFigureOut">
              <a:rPr lang="en-IN" smtClean="0"/>
              <a:t>08-04-2025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B5525F-1988-4332-8C42-E68B3174E500}"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28496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0F8F4D-D638-406D-9636-15759F9C193C}" type="datetimeFigureOut">
              <a:rPr lang="en-IN" smtClean="0"/>
              <a:t>08-04-2025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2B5525F-1988-4332-8C42-E68B3174E500}" type="slidenum">
              <a:rPr lang="en-IN" smtClean="0"/>
              <a:t>‹#›</a:t>
            </a:fld>
            <a:endParaRPr lang="en-IN"/>
          </a:p>
        </p:txBody>
      </p:sp>
    </p:spTree>
    <p:extLst>
      <p:ext uri="{BB962C8B-B14F-4D97-AF65-F5344CB8AC3E}">
        <p14:creationId xmlns:p14="http://schemas.microsoft.com/office/powerpoint/2010/main" val="4245215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0F8F4D-D638-406D-9636-15759F9C193C}" type="datetimeFigureOut">
              <a:rPr lang="en-IN" smtClean="0"/>
              <a:t>08-04-2025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B5525F-1988-4332-8C42-E68B3174E500}"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64756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40F8F4D-D638-406D-9636-15759F9C193C}" type="datetimeFigureOut">
              <a:rPr lang="en-IN" smtClean="0"/>
              <a:t>08-04-2025</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02B5525F-1988-4332-8C42-E68B3174E500}"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59101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0F8F4D-D638-406D-9636-15759F9C193C}" type="datetimeFigureOut">
              <a:rPr lang="en-IN" smtClean="0"/>
              <a:t>08-04-2025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B5525F-1988-4332-8C42-E68B3174E500}"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35516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0F8F4D-D638-406D-9636-15759F9C193C}" type="datetimeFigureOut">
              <a:rPr lang="en-IN" smtClean="0"/>
              <a:t>08-04-2025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B5525F-1988-4332-8C42-E68B3174E500}"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11305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40F8F4D-D638-406D-9636-15759F9C193C}" type="datetimeFigureOut">
              <a:rPr lang="en-IN" smtClean="0"/>
              <a:t>08-04-2025</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02B5525F-1988-4332-8C42-E68B3174E500}"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4221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035F49-D76D-B6C2-9D7A-BAA92A4484DF}"/>
              </a:ext>
            </a:extLst>
          </p:cNvPr>
          <p:cNvSpPr txBox="1"/>
          <p:nvPr/>
        </p:nvSpPr>
        <p:spPr>
          <a:xfrm>
            <a:off x="4371213" y="137160"/>
            <a:ext cx="3449574" cy="646331"/>
          </a:xfrm>
          <a:prstGeom prst="rect">
            <a:avLst/>
          </a:prstGeom>
          <a:noFill/>
        </p:spPr>
        <p:txBody>
          <a:bodyPr wrap="square" rtlCol="0">
            <a:spAutoFit/>
          </a:bodyPr>
          <a:lstStyle/>
          <a:p>
            <a:pPr algn="ctr"/>
            <a:r>
              <a:rPr lang="en-IN" sz="3600" u="sng" dirty="0">
                <a:latin typeface="Calibri" panose="020F0502020204030204" pitchFamily="34" charset="0"/>
                <a:ea typeface="Calibri" panose="020F0502020204030204" pitchFamily="34" charset="0"/>
                <a:cs typeface="Calibri" panose="020F0502020204030204" pitchFamily="34" charset="0"/>
              </a:rPr>
              <a:t>BRIEF HISTORY</a:t>
            </a:r>
          </a:p>
        </p:txBody>
      </p:sp>
      <p:sp>
        <p:nvSpPr>
          <p:cNvPr id="3" name="TextBox 2">
            <a:extLst>
              <a:ext uri="{FF2B5EF4-FFF2-40B4-BE49-F238E27FC236}">
                <a16:creationId xmlns:a16="http://schemas.microsoft.com/office/drawing/2014/main" id="{6A7EB60E-BED8-5BE7-8035-D9E9AD7B6E70}"/>
              </a:ext>
            </a:extLst>
          </p:cNvPr>
          <p:cNvSpPr txBox="1"/>
          <p:nvPr/>
        </p:nvSpPr>
        <p:spPr>
          <a:xfrm>
            <a:off x="1117092" y="783491"/>
            <a:ext cx="9957816" cy="5355312"/>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A</a:t>
            </a:r>
            <a:r>
              <a:rPr lang="en-US" b="0" i="0" dirty="0">
                <a:effectLst/>
                <a:latin typeface="Calibri" panose="020F0502020204030204" pitchFamily="34" charset="0"/>
                <a:ea typeface="Calibri" panose="020F0502020204030204" pitchFamily="34" charset="0"/>
                <a:cs typeface="Calibri" panose="020F0502020204030204" pitchFamily="34" charset="0"/>
              </a:rPr>
              <a:t> computer understands and executes instructions represented in binary code, which consists of only 0s and 1s, also known as </a:t>
            </a:r>
            <a:r>
              <a:rPr lang="en-US" b="1" i="0" dirty="0">
                <a:effectLst/>
                <a:latin typeface="Calibri" panose="020F0502020204030204" pitchFamily="34" charset="0"/>
                <a:ea typeface="Calibri" panose="020F0502020204030204" pitchFamily="34" charset="0"/>
                <a:cs typeface="Calibri" panose="020F0502020204030204" pitchFamily="34" charset="0"/>
              </a:rPr>
              <a:t>machine language</a:t>
            </a:r>
            <a:r>
              <a:rPr lang="en-US" b="0" i="0" dirty="0">
                <a:effectLst/>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rPr>
              <a:t>T</a:t>
            </a:r>
            <a:r>
              <a:rPr lang="en-US" b="0" i="0" dirty="0">
                <a:effectLst/>
                <a:latin typeface="Calibri" panose="020F0502020204030204" pitchFamily="34" charset="0"/>
                <a:ea typeface="Calibri" panose="020F0502020204030204" pitchFamily="34" charset="0"/>
                <a:cs typeface="Calibri" panose="020F0502020204030204" pitchFamily="34" charset="0"/>
              </a:rPr>
              <a:t>he first programming languages were, in fact, machine language, also known as 1GL (First-generation language - directly understood by the processor). </a:t>
            </a:r>
          </a:p>
          <a:p>
            <a:r>
              <a:rPr lang="en-US" b="0" i="0" dirty="0">
                <a:effectLst/>
                <a:latin typeface="Calibri" panose="020F0502020204030204" pitchFamily="34" charset="0"/>
                <a:ea typeface="Calibri" panose="020F0502020204030204" pitchFamily="34" charset="0"/>
                <a:cs typeface="Calibri" panose="020F0502020204030204" pitchFamily="34" charset="0"/>
              </a:rPr>
              <a:t>The earliest computers were programmed using machine language, which was very difficult to debug and not portable between different systems.</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Thus, the </a:t>
            </a:r>
            <a:r>
              <a:rPr lang="en-US" b="1" dirty="0">
                <a:latin typeface="Calibri" panose="020F0502020204030204" pitchFamily="34" charset="0"/>
                <a:ea typeface="Calibri" panose="020F0502020204030204" pitchFamily="34" charset="0"/>
                <a:cs typeface="Calibri" panose="020F0502020204030204" pitchFamily="34" charset="0"/>
              </a:rPr>
              <a:t>assembly language</a:t>
            </a:r>
            <a:r>
              <a:rPr lang="en-US" dirty="0">
                <a:latin typeface="Calibri" panose="020F0502020204030204" pitchFamily="34" charset="0"/>
                <a:ea typeface="Calibri" panose="020F0502020204030204" pitchFamily="34" charset="0"/>
                <a:cs typeface="Calibri" panose="020F0502020204030204" pitchFamily="34" charset="0"/>
              </a:rPr>
              <a:t> was developed (which is a more human-readable way to write machine-level instructions), along with a language translator called the assembler, which converts assembly language into machine language. However, writing code in assembly language can be very tedious and time-consuming because the instructions are low-level and closely tied to the architecture of the hardware. It requires detailed management of memory, registers, and hardware-specific operations. It is platform-dependent. Code written for one type of processor cannot run on another without significant modification. This lack of portability makes it difficult to develop software that can run on different platforms.</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To address the above mentioned drawbacks of assembly language </a:t>
            </a:r>
            <a:r>
              <a:rPr lang="en-US"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like complexity and lack of portability, </a:t>
            </a:r>
            <a:r>
              <a:rPr lang="en-US" dirty="0">
                <a:latin typeface="Calibri" panose="020F0502020204030204" pitchFamily="34" charset="0"/>
                <a:ea typeface="Calibri" panose="020F0502020204030204" pitchFamily="34" charset="0"/>
                <a:cs typeface="Calibri" panose="020F0502020204030204" pitchFamily="34" charset="0"/>
              </a:rPr>
              <a:t>programmers and developers often use </a:t>
            </a:r>
            <a:r>
              <a:rPr lang="en-US" b="1" dirty="0">
                <a:latin typeface="Calibri" panose="020F0502020204030204" pitchFamily="34" charset="0"/>
                <a:ea typeface="Calibri" panose="020F0502020204030204" pitchFamily="34" charset="0"/>
                <a:cs typeface="Calibri" panose="020F0502020204030204" pitchFamily="34" charset="0"/>
              </a:rPr>
              <a:t>high-level programming languages</a:t>
            </a:r>
            <a:r>
              <a:rPr lang="en-US"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 (e.g., C, C++, Python), which offer abstraction, readability, and portability, while assembly language remains crucial for low-level tasks and performance-critical applications. </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74181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E9814-68DE-0FC2-27DF-3D4AD40796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05E80B-E475-21CC-2C4E-9EECFC9BE43C}"/>
              </a:ext>
            </a:extLst>
          </p:cNvPr>
          <p:cNvSpPr txBox="1"/>
          <p:nvPr/>
        </p:nvSpPr>
        <p:spPr>
          <a:xfrm>
            <a:off x="1464754" y="87975"/>
            <a:ext cx="9262491" cy="646331"/>
          </a:xfrm>
          <a:prstGeom prst="rect">
            <a:avLst/>
          </a:prstGeom>
          <a:noFill/>
        </p:spPr>
        <p:txBody>
          <a:bodyPr wrap="square" rtlCol="0">
            <a:spAutoFit/>
          </a:bodyPr>
          <a:lstStyle/>
          <a:p>
            <a:pPr algn="ctr"/>
            <a:r>
              <a:rPr lang="en-IN" sz="3600" u="sng" dirty="0">
                <a:latin typeface="Calibri" panose="020F0502020204030204" pitchFamily="34" charset="0"/>
                <a:ea typeface="Calibri" panose="020F0502020204030204" pitchFamily="34" charset="0"/>
                <a:cs typeface="Calibri" panose="020F0502020204030204" pitchFamily="34" charset="0"/>
              </a:rPr>
              <a:t>EMERGENCE OF COMPILERS AND INTERPRETERS</a:t>
            </a:r>
          </a:p>
        </p:txBody>
      </p:sp>
      <p:sp>
        <p:nvSpPr>
          <p:cNvPr id="3" name="TextBox 2">
            <a:extLst>
              <a:ext uri="{FF2B5EF4-FFF2-40B4-BE49-F238E27FC236}">
                <a16:creationId xmlns:a16="http://schemas.microsoft.com/office/drawing/2014/main" id="{2583D7CF-29C2-ED1E-7EE5-DB1799CA195F}"/>
              </a:ext>
            </a:extLst>
          </p:cNvPr>
          <p:cNvSpPr txBox="1"/>
          <p:nvPr/>
        </p:nvSpPr>
        <p:spPr>
          <a:xfrm>
            <a:off x="1117091" y="1166842"/>
            <a:ext cx="9957816" cy="4524315"/>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With the emergence of high-level programming languages, there was a need for a language translator which can convert the high-level language to assembly language, which is then converted by an assembler to machine language.</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This language translator which can convert the high-level language to assembly language is basically the </a:t>
            </a:r>
            <a:r>
              <a:rPr lang="en-US" b="1" dirty="0">
                <a:latin typeface="Calibri" panose="020F0502020204030204" pitchFamily="34" charset="0"/>
                <a:ea typeface="Calibri" panose="020F0502020204030204" pitchFamily="34" charset="0"/>
                <a:cs typeface="Calibri" panose="020F0502020204030204" pitchFamily="34" charset="0"/>
              </a:rPr>
              <a:t>compiler</a:t>
            </a:r>
            <a:r>
              <a:rPr lang="en-US" dirty="0">
                <a:latin typeface="Calibri" panose="020F0502020204030204" pitchFamily="34" charset="0"/>
                <a:ea typeface="Calibri" panose="020F0502020204030204" pitchFamily="34" charset="0"/>
                <a:cs typeface="Calibri" panose="020F0502020204030204" pitchFamily="34" charset="0"/>
              </a:rPr>
              <a:t>.</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On the other hand, there is another type of language translator which differs from the compiler in the sense that it directly executes high-level code line by line without generating intermediate assembly or machine code files. It reads one line (or statement) of high-level code, converts it directly into machine instructions in memory and executes the machine instructions immediately. This process is then repeated for the next lines of code until the whole program is executed. This type of language translator is known as the </a:t>
            </a:r>
            <a:r>
              <a:rPr lang="en-US" b="1" dirty="0">
                <a:latin typeface="Calibri" panose="020F0502020204030204" pitchFamily="34" charset="0"/>
                <a:ea typeface="Calibri" panose="020F0502020204030204" pitchFamily="34" charset="0"/>
                <a:cs typeface="Calibri" panose="020F0502020204030204" pitchFamily="34" charset="0"/>
              </a:rPr>
              <a:t>interpreter</a:t>
            </a:r>
            <a:r>
              <a:rPr lang="en-US" dirty="0">
                <a:latin typeface="Calibri" panose="020F0502020204030204" pitchFamily="34" charset="0"/>
                <a:ea typeface="Calibri" panose="020F0502020204030204" pitchFamily="34" charset="0"/>
                <a:cs typeface="Calibri" panose="020F0502020204030204" pitchFamily="34" charset="0"/>
              </a:rPr>
              <a:t>.</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Now let’s talk in detail about these two primary types of language translators – compilers and interpreters.</a:t>
            </a:r>
          </a:p>
        </p:txBody>
      </p:sp>
    </p:spTree>
    <p:extLst>
      <p:ext uri="{BB962C8B-B14F-4D97-AF65-F5344CB8AC3E}">
        <p14:creationId xmlns:p14="http://schemas.microsoft.com/office/powerpoint/2010/main" val="3798173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79F61-8026-6A0E-9F05-FF1FB752DFB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14EE7D2-B060-D284-1981-95E34B3AFFF5}"/>
              </a:ext>
            </a:extLst>
          </p:cNvPr>
          <p:cNvSpPr txBox="1"/>
          <p:nvPr/>
        </p:nvSpPr>
        <p:spPr>
          <a:xfrm>
            <a:off x="1464753" y="0"/>
            <a:ext cx="9262491" cy="646331"/>
          </a:xfrm>
          <a:prstGeom prst="rect">
            <a:avLst/>
          </a:prstGeom>
          <a:noFill/>
        </p:spPr>
        <p:txBody>
          <a:bodyPr wrap="square" rtlCol="0">
            <a:spAutoFit/>
          </a:bodyPr>
          <a:lstStyle/>
          <a:p>
            <a:pPr algn="ctr"/>
            <a:r>
              <a:rPr lang="en-IN" sz="3600" u="sng" dirty="0">
                <a:latin typeface="Calibri" panose="020F0502020204030204" pitchFamily="34" charset="0"/>
                <a:ea typeface="Calibri" panose="020F0502020204030204" pitchFamily="34" charset="0"/>
                <a:cs typeface="Calibri" panose="020F0502020204030204" pitchFamily="34" charset="0"/>
              </a:rPr>
              <a:t>Basic Flow Chart – In a C Program</a:t>
            </a:r>
          </a:p>
        </p:txBody>
      </p:sp>
      <p:sp>
        <p:nvSpPr>
          <p:cNvPr id="4" name="Rectangle 3">
            <a:extLst>
              <a:ext uri="{FF2B5EF4-FFF2-40B4-BE49-F238E27FC236}">
                <a16:creationId xmlns:a16="http://schemas.microsoft.com/office/drawing/2014/main" id="{7ADB749A-56AD-66E7-CD73-00571A4126F0}"/>
              </a:ext>
            </a:extLst>
          </p:cNvPr>
          <p:cNvSpPr/>
          <p:nvPr/>
        </p:nvSpPr>
        <p:spPr>
          <a:xfrm>
            <a:off x="534924" y="1810512"/>
            <a:ext cx="2139696" cy="1042416"/>
          </a:xfrm>
          <a:prstGeom prst="rect">
            <a:avLst/>
          </a:prstGeom>
          <a:solidFill>
            <a:schemeClr val="accent5">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sz="2000" dirty="0">
                <a:latin typeface="Calibri" panose="020F0502020204030204" pitchFamily="34" charset="0"/>
                <a:ea typeface="Calibri" panose="020F0502020204030204" pitchFamily="34" charset="0"/>
                <a:cs typeface="Calibri" panose="020F0502020204030204" pitchFamily="34" charset="0"/>
              </a:rPr>
              <a:t>PREPROCESSOR</a:t>
            </a:r>
          </a:p>
        </p:txBody>
      </p:sp>
      <p:sp>
        <p:nvSpPr>
          <p:cNvPr id="5" name="Rectangle 4">
            <a:extLst>
              <a:ext uri="{FF2B5EF4-FFF2-40B4-BE49-F238E27FC236}">
                <a16:creationId xmlns:a16="http://schemas.microsoft.com/office/drawing/2014/main" id="{9861AF24-6747-92B9-6EBD-F7E5C74A7E14}"/>
              </a:ext>
            </a:extLst>
          </p:cNvPr>
          <p:cNvSpPr/>
          <p:nvPr/>
        </p:nvSpPr>
        <p:spPr>
          <a:xfrm>
            <a:off x="9460799" y="4014217"/>
            <a:ext cx="2139696" cy="1042416"/>
          </a:xfrm>
          <a:prstGeom prst="rect">
            <a:avLst/>
          </a:prstGeom>
          <a:solidFill>
            <a:schemeClr val="accent5">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sz="2000" dirty="0">
                <a:latin typeface="Calibri" panose="020F0502020204030204" pitchFamily="34" charset="0"/>
                <a:ea typeface="Calibri" panose="020F0502020204030204" pitchFamily="34" charset="0"/>
                <a:cs typeface="Calibri" panose="020F0502020204030204" pitchFamily="34" charset="0"/>
              </a:rPr>
              <a:t>LINKER / LOADER</a:t>
            </a:r>
          </a:p>
        </p:txBody>
      </p:sp>
      <p:sp>
        <p:nvSpPr>
          <p:cNvPr id="6" name="Rectangle 5">
            <a:extLst>
              <a:ext uri="{FF2B5EF4-FFF2-40B4-BE49-F238E27FC236}">
                <a16:creationId xmlns:a16="http://schemas.microsoft.com/office/drawing/2014/main" id="{6D5266D5-F081-A181-A713-E3A8070BCE12}"/>
              </a:ext>
            </a:extLst>
          </p:cNvPr>
          <p:cNvSpPr/>
          <p:nvPr/>
        </p:nvSpPr>
        <p:spPr>
          <a:xfrm>
            <a:off x="9460799" y="1801368"/>
            <a:ext cx="2139696" cy="1042416"/>
          </a:xfrm>
          <a:prstGeom prst="rect">
            <a:avLst/>
          </a:prstGeom>
          <a:solidFill>
            <a:schemeClr val="accent5">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sz="2000" dirty="0">
                <a:latin typeface="Calibri" panose="020F0502020204030204" pitchFamily="34" charset="0"/>
                <a:ea typeface="Calibri" panose="020F0502020204030204" pitchFamily="34" charset="0"/>
                <a:cs typeface="Calibri" panose="020F0502020204030204" pitchFamily="34" charset="0"/>
              </a:rPr>
              <a:t>ASSEMBLER</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E7FE809E-3F5B-2A28-AE1D-DA14163B56AA}"/>
              </a:ext>
            </a:extLst>
          </p:cNvPr>
          <p:cNvSpPr/>
          <p:nvPr/>
        </p:nvSpPr>
        <p:spPr>
          <a:xfrm>
            <a:off x="5061205" y="1801368"/>
            <a:ext cx="2139696" cy="1042416"/>
          </a:xfrm>
          <a:prstGeom prst="rect">
            <a:avLst/>
          </a:prstGeom>
          <a:solidFill>
            <a:schemeClr val="accent5">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sz="2000" dirty="0">
                <a:latin typeface="Calibri" panose="020F0502020204030204" pitchFamily="34" charset="0"/>
                <a:ea typeface="Calibri" panose="020F0502020204030204" pitchFamily="34" charset="0"/>
                <a:cs typeface="Calibri" panose="020F0502020204030204" pitchFamily="34" charset="0"/>
              </a:rPr>
              <a:t>COMPILER</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816277B1-8C24-B96A-416A-D3C57CEE47C4}"/>
              </a:ext>
            </a:extLst>
          </p:cNvPr>
          <p:cNvSpPr txBox="1"/>
          <p:nvPr/>
        </p:nvSpPr>
        <p:spPr>
          <a:xfrm>
            <a:off x="457200" y="737771"/>
            <a:ext cx="2295144" cy="646331"/>
          </a:xfrm>
          <a:prstGeom prst="rect">
            <a:avLst/>
          </a:prstGeom>
          <a:noFill/>
        </p:spPr>
        <p:txBody>
          <a:bodyPr wrap="square" rtlCol="0">
            <a:spAutoFit/>
          </a:bodyPr>
          <a:lstStyle/>
          <a:p>
            <a:pPr algn="ctr"/>
            <a:r>
              <a:rPr lang="en-IN" dirty="0">
                <a:latin typeface="Calibri" panose="020F0502020204030204" pitchFamily="34" charset="0"/>
                <a:ea typeface="Calibri" panose="020F0502020204030204" pitchFamily="34" charset="0"/>
                <a:cs typeface="Calibri" panose="020F0502020204030204" pitchFamily="34" charset="0"/>
              </a:rPr>
              <a:t>C Program (High level Language)</a:t>
            </a:r>
          </a:p>
        </p:txBody>
      </p:sp>
      <p:cxnSp>
        <p:nvCxnSpPr>
          <p:cNvPr id="10" name="Straight Arrow Connector 9">
            <a:extLst>
              <a:ext uri="{FF2B5EF4-FFF2-40B4-BE49-F238E27FC236}">
                <a16:creationId xmlns:a16="http://schemas.microsoft.com/office/drawing/2014/main" id="{C87468FD-0175-1A1E-BAB3-2A14F78B268E}"/>
              </a:ext>
            </a:extLst>
          </p:cNvPr>
          <p:cNvCxnSpPr/>
          <p:nvPr/>
        </p:nvCxnSpPr>
        <p:spPr>
          <a:xfrm>
            <a:off x="1464753" y="1384102"/>
            <a:ext cx="0" cy="417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4E3B82C-D6FF-FFBA-6128-C900D2B28CA7}"/>
              </a:ext>
            </a:extLst>
          </p:cNvPr>
          <p:cNvCxnSpPr>
            <a:stCxn id="4" idx="3"/>
            <a:endCxn id="7" idx="1"/>
          </p:cNvCxnSpPr>
          <p:nvPr/>
        </p:nvCxnSpPr>
        <p:spPr>
          <a:xfrm flipV="1">
            <a:off x="2674620" y="2322576"/>
            <a:ext cx="2386585" cy="9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957FB7A-D21C-583D-3658-F7404B47BCB7}"/>
              </a:ext>
            </a:extLst>
          </p:cNvPr>
          <p:cNvSpPr txBox="1"/>
          <p:nvPr/>
        </p:nvSpPr>
        <p:spPr>
          <a:xfrm>
            <a:off x="2674624" y="1530173"/>
            <a:ext cx="2386581" cy="646331"/>
          </a:xfrm>
          <a:prstGeom prst="rect">
            <a:avLst/>
          </a:prstGeom>
          <a:noFill/>
        </p:spPr>
        <p:txBody>
          <a:bodyPr wrap="square" rtlCol="0">
            <a:spAutoFit/>
          </a:bodyPr>
          <a:lstStyle/>
          <a:p>
            <a:pPr algn="ctr"/>
            <a:r>
              <a:rPr lang="en-IN" dirty="0">
                <a:latin typeface="Calibri" panose="020F0502020204030204" pitchFamily="34" charset="0"/>
                <a:ea typeface="Calibri" panose="020F0502020204030204" pitchFamily="34" charset="0"/>
                <a:cs typeface="Calibri" panose="020F0502020204030204" pitchFamily="34" charset="0"/>
              </a:rPr>
              <a:t>After handling preprocessor directives</a:t>
            </a:r>
          </a:p>
        </p:txBody>
      </p:sp>
      <p:cxnSp>
        <p:nvCxnSpPr>
          <p:cNvPr id="15" name="Straight Arrow Connector 14">
            <a:extLst>
              <a:ext uri="{FF2B5EF4-FFF2-40B4-BE49-F238E27FC236}">
                <a16:creationId xmlns:a16="http://schemas.microsoft.com/office/drawing/2014/main" id="{55231DCA-6534-CA11-961A-41880A11B54E}"/>
              </a:ext>
            </a:extLst>
          </p:cNvPr>
          <p:cNvCxnSpPr>
            <a:stCxn id="7" idx="3"/>
            <a:endCxn id="6" idx="1"/>
          </p:cNvCxnSpPr>
          <p:nvPr/>
        </p:nvCxnSpPr>
        <p:spPr>
          <a:xfrm>
            <a:off x="7200901" y="2322576"/>
            <a:ext cx="22598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AA912B7-75F9-E1F0-8E67-329C55A5AF93}"/>
              </a:ext>
            </a:extLst>
          </p:cNvPr>
          <p:cNvSpPr txBox="1"/>
          <p:nvPr/>
        </p:nvSpPr>
        <p:spPr>
          <a:xfrm>
            <a:off x="7351776" y="1772990"/>
            <a:ext cx="1984248" cy="369332"/>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Assembly language</a:t>
            </a:r>
          </a:p>
        </p:txBody>
      </p:sp>
      <p:cxnSp>
        <p:nvCxnSpPr>
          <p:cNvPr id="18" name="Straight Arrow Connector 17">
            <a:extLst>
              <a:ext uri="{FF2B5EF4-FFF2-40B4-BE49-F238E27FC236}">
                <a16:creationId xmlns:a16="http://schemas.microsoft.com/office/drawing/2014/main" id="{BD53A323-106F-225E-598D-C0E4ADDE0869}"/>
              </a:ext>
            </a:extLst>
          </p:cNvPr>
          <p:cNvCxnSpPr>
            <a:stCxn id="6" idx="2"/>
            <a:endCxn id="5" idx="0"/>
          </p:cNvCxnSpPr>
          <p:nvPr/>
        </p:nvCxnSpPr>
        <p:spPr>
          <a:xfrm>
            <a:off x="10530647" y="2843784"/>
            <a:ext cx="0" cy="11704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04EA845-DF8C-0533-15D0-ADEA68A4D39A}"/>
              </a:ext>
            </a:extLst>
          </p:cNvPr>
          <p:cNvSpPr txBox="1"/>
          <p:nvPr/>
        </p:nvSpPr>
        <p:spPr>
          <a:xfrm>
            <a:off x="8790048" y="3105835"/>
            <a:ext cx="1764790" cy="646331"/>
          </a:xfrm>
          <a:prstGeom prst="rect">
            <a:avLst/>
          </a:prstGeom>
          <a:noFill/>
        </p:spPr>
        <p:txBody>
          <a:bodyPr wrap="square" rtlCol="0">
            <a:spAutoFit/>
          </a:bodyPr>
          <a:lstStyle/>
          <a:p>
            <a:pPr algn="ctr"/>
            <a:r>
              <a:rPr lang="en-IN" dirty="0">
                <a:latin typeface="Calibri" panose="020F0502020204030204" pitchFamily="34" charset="0"/>
                <a:ea typeface="Calibri" panose="020F0502020204030204" pitchFamily="34" charset="0"/>
                <a:cs typeface="Calibri" panose="020F0502020204030204" pitchFamily="34" charset="0"/>
              </a:rPr>
              <a:t>Relocatable machine code</a:t>
            </a:r>
          </a:p>
        </p:txBody>
      </p:sp>
      <p:cxnSp>
        <p:nvCxnSpPr>
          <p:cNvPr id="21" name="Straight Arrow Connector 20">
            <a:extLst>
              <a:ext uri="{FF2B5EF4-FFF2-40B4-BE49-F238E27FC236}">
                <a16:creationId xmlns:a16="http://schemas.microsoft.com/office/drawing/2014/main" id="{0FFBC4D4-7B28-A4E5-EABD-B639FC270EF1}"/>
              </a:ext>
            </a:extLst>
          </p:cNvPr>
          <p:cNvCxnSpPr>
            <a:stCxn id="5" idx="1"/>
          </p:cNvCxnSpPr>
          <p:nvPr/>
        </p:nvCxnSpPr>
        <p:spPr>
          <a:xfrm flipH="1">
            <a:off x="8065008" y="4535425"/>
            <a:ext cx="13957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077C06ED-AA3B-6A1D-5407-088590D3C3BC}"/>
              </a:ext>
            </a:extLst>
          </p:cNvPr>
          <p:cNvSpPr txBox="1"/>
          <p:nvPr/>
        </p:nvSpPr>
        <p:spPr>
          <a:xfrm>
            <a:off x="6581395" y="4073759"/>
            <a:ext cx="1483613" cy="923330"/>
          </a:xfrm>
          <a:prstGeom prst="rect">
            <a:avLst/>
          </a:prstGeom>
          <a:noFill/>
        </p:spPr>
        <p:txBody>
          <a:bodyPr wrap="square" rtlCol="0">
            <a:spAutoFit/>
          </a:bodyPr>
          <a:lstStyle/>
          <a:p>
            <a:pPr algn="ctr"/>
            <a:r>
              <a:rPr lang="en-IN" dirty="0"/>
              <a:t>Absolute machine code (.exe, .out)</a:t>
            </a:r>
          </a:p>
        </p:txBody>
      </p:sp>
    </p:spTree>
    <p:extLst>
      <p:ext uri="{BB962C8B-B14F-4D97-AF65-F5344CB8AC3E}">
        <p14:creationId xmlns:p14="http://schemas.microsoft.com/office/powerpoint/2010/main" val="4088872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BBC25-FD83-4926-7CC0-C4432500D1F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23C1E0-5D14-64D1-0B4F-1EF9A4F65F78}"/>
              </a:ext>
            </a:extLst>
          </p:cNvPr>
          <p:cNvSpPr txBox="1"/>
          <p:nvPr/>
        </p:nvSpPr>
        <p:spPr>
          <a:xfrm>
            <a:off x="1464753" y="0"/>
            <a:ext cx="9262491" cy="646331"/>
          </a:xfrm>
          <a:prstGeom prst="rect">
            <a:avLst/>
          </a:prstGeom>
          <a:noFill/>
        </p:spPr>
        <p:txBody>
          <a:bodyPr wrap="square" rtlCol="0">
            <a:spAutoFit/>
          </a:bodyPr>
          <a:lstStyle/>
          <a:p>
            <a:pPr algn="ctr"/>
            <a:r>
              <a:rPr lang="en-IN" sz="3600" u="sng" dirty="0">
                <a:latin typeface="Calibri" panose="020F0502020204030204" pitchFamily="34" charset="0"/>
                <a:ea typeface="Calibri" panose="020F0502020204030204" pitchFamily="34" charset="0"/>
                <a:cs typeface="Calibri" panose="020F0502020204030204" pitchFamily="34" charset="0"/>
              </a:rPr>
              <a:t>Phases of a compiler</a:t>
            </a:r>
          </a:p>
        </p:txBody>
      </p:sp>
      <p:sp>
        <p:nvSpPr>
          <p:cNvPr id="3" name="Rectangle 2">
            <a:extLst>
              <a:ext uri="{FF2B5EF4-FFF2-40B4-BE49-F238E27FC236}">
                <a16:creationId xmlns:a16="http://schemas.microsoft.com/office/drawing/2014/main" id="{2BF1AEDE-B576-12CF-C949-C90E38123B3F}"/>
              </a:ext>
            </a:extLst>
          </p:cNvPr>
          <p:cNvSpPr/>
          <p:nvPr/>
        </p:nvSpPr>
        <p:spPr>
          <a:xfrm>
            <a:off x="633984" y="2401902"/>
            <a:ext cx="1892808" cy="868680"/>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Lexical Analysis</a:t>
            </a:r>
          </a:p>
        </p:txBody>
      </p:sp>
      <p:sp>
        <p:nvSpPr>
          <p:cNvPr id="9" name="Rectangle 8">
            <a:extLst>
              <a:ext uri="{FF2B5EF4-FFF2-40B4-BE49-F238E27FC236}">
                <a16:creationId xmlns:a16="http://schemas.microsoft.com/office/drawing/2014/main" id="{4AA21ED9-1B04-3ED1-F2BF-3C8F0C68675A}"/>
              </a:ext>
            </a:extLst>
          </p:cNvPr>
          <p:cNvSpPr/>
          <p:nvPr/>
        </p:nvSpPr>
        <p:spPr>
          <a:xfrm>
            <a:off x="9340596" y="3698594"/>
            <a:ext cx="1892808" cy="868680"/>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Intermediate Code Generation</a:t>
            </a:r>
          </a:p>
        </p:txBody>
      </p:sp>
      <p:sp>
        <p:nvSpPr>
          <p:cNvPr id="11" name="Rectangle 10">
            <a:extLst>
              <a:ext uri="{FF2B5EF4-FFF2-40B4-BE49-F238E27FC236}">
                <a16:creationId xmlns:a16="http://schemas.microsoft.com/office/drawing/2014/main" id="{38860F86-D08C-37B8-3B65-9BA18767C593}"/>
              </a:ext>
            </a:extLst>
          </p:cNvPr>
          <p:cNvSpPr/>
          <p:nvPr/>
        </p:nvSpPr>
        <p:spPr>
          <a:xfrm>
            <a:off x="329946" y="5114389"/>
            <a:ext cx="1930145" cy="868680"/>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Code Optimisation on Assembly code</a:t>
            </a:r>
          </a:p>
        </p:txBody>
      </p:sp>
      <p:sp>
        <p:nvSpPr>
          <p:cNvPr id="14" name="Rectangle 13">
            <a:extLst>
              <a:ext uri="{FF2B5EF4-FFF2-40B4-BE49-F238E27FC236}">
                <a16:creationId xmlns:a16="http://schemas.microsoft.com/office/drawing/2014/main" id="{C8BF6D01-DF03-B24C-ABCE-A158F42FACC9}"/>
              </a:ext>
            </a:extLst>
          </p:cNvPr>
          <p:cNvSpPr/>
          <p:nvPr/>
        </p:nvSpPr>
        <p:spPr>
          <a:xfrm>
            <a:off x="6900677" y="2401901"/>
            <a:ext cx="1892808" cy="868680"/>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Semantic Analysis</a:t>
            </a:r>
          </a:p>
        </p:txBody>
      </p:sp>
      <p:sp>
        <p:nvSpPr>
          <p:cNvPr id="17" name="Rectangle 16">
            <a:extLst>
              <a:ext uri="{FF2B5EF4-FFF2-40B4-BE49-F238E27FC236}">
                <a16:creationId xmlns:a16="http://schemas.microsoft.com/office/drawing/2014/main" id="{6C8805F2-3C92-8A63-2E16-0923836FB293}"/>
              </a:ext>
            </a:extLst>
          </p:cNvPr>
          <p:cNvSpPr/>
          <p:nvPr/>
        </p:nvSpPr>
        <p:spPr>
          <a:xfrm>
            <a:off x="3622548" y="2401902"/>
            <a:ext cx="1892808" cy="868680"/>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Syntax Analysis</a:t>
            </a:r>
          </a:p>
        </p:txBody>
      </p:sp>
      <p:sp>
        <p:nvSpPr>
          <p:cNvPr id="20" name="Rectangle 19">
            <a:extLst>
              <a:ext uri="{FF2B5EF4-FFF2-40B4-BE49-F238E27FC236}">
                <a16:creationId xmlns:a16="http://schemas.microsoft.com/office/drawing/2014/main" id="{F8951BA8-F01A-7300-5886-D2E56617DA46}"/>
              </a:ext>
            </a:extLst>
          </p:cNvPr>
          <p:cNvSpPr/>
          <p:nvPr/>
        </p:nvSpPr>
        <p:spPr>
          <a:xfrm>
            <a:off x="2118360" y="3693979"/>
            <a:ext cx="1892808" cy="868680"/>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Code Generation</a:t>
            </a:r>
          </a:p>
        </p:txBody>
      </p:sp>
      <p:sp>
        <p:nvSpPr>
          <p:cNvPr id="24" name="TextBox 23">
            <a:extLst>
              <a:ext uri="{FF2B5EF4-FFF2-40B4-BE49-F238E27FC236}">
                <a16:creationId xmlns:a16="http://schemas.microsoft.com/office/drawing/2014/main" id="{E4C71F9A-E65B-67C3-71A6-53BB36231183}"/>
              </a:ext>
            </a:extLst>
          </p:cNvPr>
          <p:cNvSpPr txBox="1"/>
          <p:nvPr/>
        </p:nvSpPr>
        <p:spPr>
          <a:xfrm>
            <a:off x="800100" y="646331"/>
            <a:ext cx="1560576" cy="1200329"/>
          </a:xfrm>
          <a:prstGeom prst="rect">
            <a:avLst/>
          </a:prstGeom>
          <a:noFill/>
        </p:spPr>
        <p:txBody>
          <a:bodyPr wrap="square" rtlCol="0">
            <a:spAutoFit/>
          </a:bodyPr>
          <a:lstStyle/>
          <a:p>
            <a:pPr algn="ctr"/>
            <a:r>
              <a:rPr lang="en-IN" dirty="0">
                <a:latin typeface="Calibri" panose="020F0502020204030204" pitchFamily="34" charset="0"/>
                <a:ea typeface="Calibri" panose="020F0502020204030204" pitchFamily="34" charset="0"/>
                <a:cs typeface="Calibri" panose="020F0502020204030204" pitchFamily="34" charset="0"/>
              </a:rPr>
              <a:t>C code after preprocessing (character stream)</a:t>
            </a:r>
          </a:p>
        </p:txBody>
      </p:sp>
      <p:cxnSp>
        <p:nvCxnSpPr>
          <p:cNvPr id="27" name="Straight Arrow Connector 26">
            <a:extLst>
              <a:ext uri="{FF2B5EF4-FFF2-40B4-BE49-F238E27FC236}">
                <a16:creationId xmlns:a16="http://schemas.microsoft.com/office/drawing/2014/main" id="{0A5CE472-7FDF-696E-DB2E-9347A8CE36AA}"/>
              </a:ext>
            </a:extLst>
          </p:cNvPr>
          <p:cNvCxnSpPr>
            <a:stCxn id="24" idx="2"/>
            <a:endCxn id="3" idx="0"/>
          </p:cNvCxnSpPr>
          <p:nvPr/>
        </p:nvCxnSpPr>
        <p:spPr>
          <a:xfrm>
            <a:off x="1580388" y="1846660"/>
            <a:ext cx="0" cy="555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127C03D8-99C7-8BE8-46BB-B45F854D6791}"/>
              </a:ext>
            </a:extLst>
          </p:cNvPr>
          <p:cNvSpPr/>
          <p:nvPr/>
        </p:nvSpPr>
        <p:spPr>
          <a:xfrm>
            <a:off x="5515356" y="3724467"/>
            <a:ext cx="2321052" cy="816933"/>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Code Optimisation on Intermediate code</a:t>
            </a:r>
          </a:p>
        </p:txBody>
      </p:sp>
      <p:cxnSp>
        <p:nvCxnSpPr>
          <p:cNvPr id="35" name="Straight Arrow Connector 34">
            <a:extLst>
              <a:ext uri="{FF2B5EF4-FFF2-40B4-BE49-F238E27FC236}">
                <a16:creationId xmlns:a16="http://schemas.microsoft.com/office/drawing/2014/main" id="{4A7455AA-0D5A-5987-AAE8-EDF35EE58178}"/>
              </a:ext>
            </a:extLst>
          </p:cNvPr>
          <p:cNvCxnSpPr>
            <a:stCxn id="3" idx="3"/>
            <a:endCxn id="17" idx="1"/>
          </p:cNvCxnSpPr>
          <p:nvPr/>
        </p:nvCxnSpPr>
        <p:spPr>
          <a:xfrm>
            <a:off x="2526792" y="2836242"/>
            <a:ext cx="10957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CE3EADB7-1064-60DC-52C4-CC01B1E6B2D9}"/>
              </a:ext>
            </a:extLst>
          </p:cNvPr>
          <p:cNvSpPr txBox="1"/>
          <p:nvPr/>
        </p:nvSpPr>
        <p:spPr>
          <a:xfrm>
            <a:off x="2638807" y="2078736"/>
            <a:ext cx="871725" cy="646331"/>
          </a:xfrm>
          <a:prstGeom prst="rect">
            <a:avLst/>
          </a:prstGeom>
          <a:noFill/>
        </p:spPr>
        <p:txBody>
          <a:bodyPr wrap="square" rtlCol="0">
            <a:spAutoFit/>
          </a:bodyPr>
          <a:lstStyle/>
          <a:p>
            <a:pPr algn="ctr"/>
            <a:r>
              <a:rPr lang="en-IN" dirty="0">
                <a:latin typeface="Calibri" panose="020F0502020204030204" pitchFamily="34" charset="0"/>
                <a:ea typeface="Calibri" panose="020F0502020204030204" pitchFamily="34" charset="0"/>
                <a:cs typeface="Calibri" panose="020F0502020204030204" pitchFamily="34" charset="0"/>
              </a:rPr>
              <a:t>Token stream</a:t>
            </a:r>
          </a:p>
        </p:txBody>
      </p:sp>
      <p:cxnSp>
        <p:nvCxnSpPr>
          <p:cNvPr id="40" name="Straight Arrow Connector 39">
            <a:extLst>
              <a:ext uri="{FF2B5EF4-FFF2-40B4-BE49-F238E27FC236}">
                <a16:creationId xmlns:a16="http://schemas.microsoft.com/office/drawing/2014/main" id="{41430778-8FB8-0E34-9374-1089A15AA965}"/>
              </a:ext>
            </a:extLst>
          </p:cNvPr>
          <p:cNvCxnSpPr>
            <a:stCxn id="17" idx="3"/>
            <a:endCxn id="14" idx="1"/>
          </p:cNvCxnSpPr>
          <p:nvPr/>
        </p:nvCxnSpPr>
        <p:spPr>
          <a:xfrm flipV="1">
            <a:off x="5515356" y="2836241"/>
            <a:ext cx="138532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D02DCBD-ECC4-68C6-AD4A-B9E318B2DB6F}"/>
              </a:ext>
            </a:extLst>
          </p:cNvPr>
          <p:cNvSpPr txBox="1"/>
          <p:nvPr/>
        </p:nvSpPr>
        <p:spPr>
          <a:xfrm>
            <a:off x="5627372" y="2413146"/>
            <a:ext cx="1161289" cy="369332"/>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Parse tree</a:t>
            </a:r>
          </a:p>
        </p:txBody>
      </p:sp>
      <p:cxnSp>
        <p:nvCxnSpPr>
          <p:cNvPr id="45" name="Connector: Elbow 44">
            <a:extLst>
              <a:ext uri="{FF2B5EF4-FFF2-40B4-BE49-F238E27FC236}">
                <a16:creationId xmlns:a16="http://schemas.microsoft.com/office/drawing/2014/main" id="{D05B2F11-9A46-219B-5F41-6CD5A63379BF}"/>
              </a:ext>
            </a:extLst>
          </p:cNvPr>
          <p:cNvCxnSpPr>
            <a:stCxn id="14" idx="3"/>
            <a:endCxn id="9" idx="0"/>
          </p:cNvCxnSpPr>
          <p:nvPr/>
        </p:nvCxnSpPr>
        <p:spPr>
          <a:xfrm>
            <a:off x="8793485" y="2836241"/>
            <a:ext cx="1493515" cy="86235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07973480-7568-181F-8556-5705F964D1AA}"/>
              </a:ext>
            </a:extLst>
          </p:cNvPr>
          <p:cNvSpPr txBox="1"/>
          <p:nvPr/>
        </p:nvSpPr>
        <p:spPr>
          <a:xfrm>
            <a:off x="8905501" y="2355735"/>
            <a:ext cx="2267712" cy="369332"/>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Annotated Parse Tree</a:t>
            </a:r>
          </a:p>
        </p:txBody>
      </p:sp>
      <p:cxnSp>
        <p:nvCxnSpPr>
          <p:cNvPr id="49" name="Straight Arrow Connector 48">
            <a:extLst>
              <a:ext uri="{FF2B5EF4-FFF2-40B4-BE49-F238E27FC236}">
                <a16:creationId xmlns:a16="http://schemas.microsoft.com/office/drawing/2014/main" id="{FF44C0CC-4DBA-3962-8F2A-10E1F54C24EF}"/>
              </a:ext>
            </a:extLst>
          </p:cNvPr>
          <p:cNvCxnSpPr>
            <a:stCxn id="9" idx="1"/>
            <a:endCxn id="29" idx="3"/>
          </p:cNvCxnSpPr>
          <p:nvPr/>
        </p:nvCxnSpPr>
        <p:spPr>
          <a:xfrm flipH="1">
            <a:off x="7836408" y="4132934"/>
            <a:ext cx="15041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CB639AFD-F9B9-A35D-C4BA-9EFBBBA77FAD}"/>
              </a:ext>
            </a:extLst>
          </p:cNvPr>
          <p:cNvSpPr txBox="1"/>
          <p:nvPr/>
        </p:nvSpPr>
        <p:spPr>
          <a:xfrm>
            <a:off x="7847081" y="4132934"/>
            <a:ext cx="1493515" cy="646331"/>
          </a:xfrm>
          <a:prstGeom prst="rect">
            <a:avLst/>
          </a:prstGeom>
          <a:noFill/>
        </p:spPr>
        <p:txBody>
          <a:bodyPr wrap="square" rtlCol="0">
            <a:spAutoFit/>
          </a:bodyPr>
          <a:lstStyle/>
          <a:p>
            <a:pPr algn="ctr"/>
            <a:r>
              <a:rPr lang="en-IN" dirty="0">
                <a:latin typeface="Calibri" panose="020F0502020204030204" pitchFamily="34" charset="0"/>
                <a:ea typeface="Calibri" panose="020F0502020204030204" pitchFamily="34" charset="0"/>
                <a:cs typeface="Calibri" panose="020F0502020204030204" pitchFamily="34" charset="0"/>
              </a:rPr>
              <a:t>Intermediate code</a:t>
            </a:r>
          </a:p>
        </p:txBody>
      </p:sp>
      <p:cxnSp>
        <p:nvCxnSpPr>
          <p:cNvPr id="53" name="Straight Arrow Connector 52">
            <a:extLst>
              <a:ext uri="{FF2B5EF4-FFF2-40B4-BE49-F238E27FC236}">
                <a16:creationId xmlns:a16="http://schemas.microsoft.com/office/drawing/2014/main" id="{97A48927-BB3D-5BA2-8827-816EC19A4890}"/>
              </a:ext>
            </a:extLst>
          </p:cNvPr>
          <p:cNvCxnSpPr>
            <a:stCxn id="29" idx="1"/>
            <a:endCxn id="20" idx="3"/>
          </p:cNvCxnSpPr>
          <p:nvPr/>
        </p:nvCxnSpPr>
        <p:spPr>
          <a:xfrm flipH="1" flipV="1">
            <a:off x="4011168" y="4128319"/>
            <a:ext cx="1504188" cy="46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9DBE3253-29D3-FD77-3728-3252B36088F7}"/>
              </a:ext>
            </a:extLst>
          </p:cNvPr>
          <p:cNvSpPr txBox="1"/>
          <p:nvPr/>
        </p:nvSpPr>
        <p:spPr>
          <a:xfrm>
            <a:off x="4011168" y="4128318"/>
            <a:ext cx="1493515" cy="646331"/>
          </a:xfrm>
          <a:prstGeom prst="rect">
            <a:avLst/>
          </a:prstGeom>
          <a:noFill/>
        </p:spPr>
        <p:txBody>
          <a:bodyPr wrap="square" rtlCol="0">
            <a:spAutoFit/>
          </a:bodyPr>
          <a:lstStyle/>
          <a:p>
            <a:pPr algn="ctr"/>
            <a:r>
              <a:rPr lang="en-IN" dirty="0">
                <a:latin typeface="Calibri" panose="020F0502020204030204" pitchFamily="34" charset="0"/>
                <a:ea typeface="Calibri" panose="020F0502020204030204" pitchFamily="34" charset="0"/>
                <a:cs typeface="Calibri" panose="020F0502020204030204" pitchFamily="34" charset="0"/>
              </a:rPr>
              <a:t>Intermediate code</a:t>
            </a:r>
          </a:p>
        </p:txBody>
      </p:sp>
      <p:cxnSp>
        <p:nvCxnSpPr>
          <p:cNvPr id="58" name="Connector: Elbow 57">
            <a:extLst>
              <a:ext uri="{FF2B5EF4-FFF2-40B4-BE49-F238E27FC236}">
                <a16:creationId xmlns:a16="http://schemas.microsoft.com/office/drawing/2014/main" id="{79497BAA-CB00-54D9-572C-A8A257AE7CD5}"/>
              </a:ext>
            </a:extLst>
          </p:cNvPr>
          <p:cNvCxnSpPr>
            <a:stCxn id="20" idx="1"/>
            <a:endCxn id="11" idx="0"/>
          </p:cNvCxnSpPr>
          <p:nvPr/>
        </p:nvCxnSpPr>
        <p:spPr>
          <a:xfrm rot="10800000" flipV="1">
            <a:off x="1295020" y="4128319"/>
            <a:ext cx="823341" cy="98607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3428F569-CC57-32EC-4378-8D4AB93DEEBA}"/>
              </a:ext>
            </a:extLst>
          </p:cNvPr>
          <p:cNvSpPr txBox="1"/>
          <p:nvPr/>
        </p:nvSpPr>
        <p:spPr>
          <a:xfrm>
            <a:off x="192024" y="3895069"/>
            <a:ext cx="1216152" cy="646331"/>
          </a:xfrm>
          <a:prstGeom prst="rect">
            <a:avLst/>
          </a:prstGeom>
          <a:noFill/>
        </p:spPr>
        <p:txBody>
          <a:bodyPr wrap="square" rtlCol="0">
            <a:spAutoFit/>
          </a:bodyPr>
          <a:lstStyle/>
          <a:p>
            <a:pPr algn="ctr"/>
            <a:r>
              <a:rPr lang="en-IN" dirty="0">
                <a:latin typeface="Calibri" panose="020F0502020204030204" pitchFamily="34" charset="0"/>
                <a:ea typeface="Calibri" panose="020F0502020204030204" pitchFamily="34" charset="0"/>
                <a:cs typeface="Calibri" panose="020F0502020204030204" pitchFamily="34" charset="0"/>
              </a:rPr>
              <a:t>Assembly code</a:t>
            </a:r>
          </a:p>
        </p:txBody>
      </p:sp>
      <p:sp>
        <p:nvSpPr>
          <p:cNvPr id="60" name="TextBox 59">
            <a:extLst>
              <a:ext uri="{FF2B5EF4-FFF2-40B4-BE49-F238E27FC236}">
                <a16:creationId xmlns:a16="http://schemas.microsoft.com/office/drawing/2014/main" id="{50668674-6B36-8D92-709A-FEE31F3EAAD2}"/>
              </a:ext>
            </a:extLst>
          </p:cNvPr>
          <p:cNvSpPr txBox="1"/>
          <p:nvPr/>
        </p:nvSpPr>
        <p:spPr>
          <a:xfrm>
            <a:off x="3014472" y="5225563"/>
            <a:ext cx="1216152" cy="646331"/>
          </a:xfrm>
          <a:prstGeom prst="rect">
            <a:avLst/>
          </a:prstGeom>
          <a:noFill/>
        </p:spPr>
        <p:txBody>
          <a:bodyPr wrap="square" rtlCol="0">
            <a:spAutoFit/>
          </a:bodyPr>
          <a:lstStyle/>
          <a:p>
            <a:pPr algn="ctr"/>
            <a:r>
              <a:rPr lang="en-IN" dirty="0">
                <a:latin typeface="Calibri" panose="020F0502020204030204" pitchFamily="34" charset="0"/>
                <a:ea typeface="Calibri" panose="020F0502020204030204" pitchFamily="34" charset="0"/>
                <a:cs typeface="Calibri" panose="020F0502020204030204" pitchFamily="34" charset="0"/>
              </a:rPr>
              <a:t>Assembly code</a:t>
            </a:r>
          </a:p>
        </p:txBody>
      </p:sp>
      <p:cxnSp>
        <p:nvCxnSpPr>
          <p:cNvPr id="62" name="Straight Arrow Connector 61">
            <a:extLst>
              <a:ext uri="{FF2B5EF4-FFF2-40B4-BE49-F238E27FC236}">
                <a16:creationId xmlns:a16="http://schemas.microsoft.com/office/drawing/2014/main" id="{4780B229-DFD2-C58B-79CC-0F2987B30DDE}"/>
              </a:ext>
            </a:extLst>
          </p:cNvPr>
          <p:cNvCxnSpPr>
            <a:stCxn id="11" idx="3"/>
            <a:endCxn id="60" idx="1"/>
          </p:cNvCxnSpPr>
          <p:nvPr/>
        </p:nvCxnSpPr>
        <p:spPr>
          <a:xfrm>
            <a:off x="2260091" y="5548729"/>
            <a:ext cx="7543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E855B7B-7034-7066-DCFF-6D4281DC95D6}"/>
              </a:ext>
            </a:extLst>
          </p:cNvPr>
          <p:cNvCxnSpPr/>
          <p:nvPr/>
        </p:nvCxnSpPr>
        <p:spPr>
          <a:xfrm>
            <a:off x="192024" y="2078736"/>
            <a:ext cx="11329416"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EE1665DB-DCC9-E108-2683-91432C76242D}"/>
              </a:ext>
            </a:extLst>
          </p:cNvPr>
          <p:cNvCxnSpPr/>
          <p:nvPr/>
        </p:nvCxnSpPr>
        <p:spPr>
          <a:xfrm>
            <a:off x="192024" y="6071616"/>
            <a:ext cx="11329416"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71" name="Straight Connector 70">
            <a:extLst>
              <a:ext uri="{FF2B5EF4-FFF2-40B4-BE49-F238E27FC236}">
                <a16:creationId xmlns:a16="http://schemas.microsoft.com/office/drawing/2014/main" id="{C3941E3A-52D3-72AF-1D87-D9FC41D0BF7E}"/>
              </a:ext>
            </a:extLst>
          </p:cNvPr>
          <p:cNvCxnSpPr/>
          <p:nvPr/>
        </p:nvCxnSpPr>
        <p:spPr>
          <a:xfrm>
            <a:off x="192024" y="2078736"/>
            <a:ext cx="0" cy="3983736"/>
          </a:xfrm>
          <a:prstGeom prst="line">
            <a:avLst/>
          </a:prstGeom>
          <a:ln w="28575"/>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38A19E63-07A0-3337-D1A9-B830A3C1DD7F}"/>
              </a:ext>
            </a:extLst>
          </p:cNvPr>
          <p:cNvCxnSpPr/>
          <p:nvPr/>
        </p:nvCxnSpPr>
        <p:spPr>
          <a:xfrm>
            <a:off x="11521440" y="2078736"/>
            <a:ext cx="0" cy="3983736"/>
          </a:xfrm>
          <a:prstGeom prst="line">
            <a:avLst/>
          </a:prstGeom>
          <a:ln w="28575"/>
        </p:spPr>
        <p:style>
          <a:lnRef idx="1">
            <a:schemeClr val="dk1"/>
          </a:lnRef>
          <a:fillRef idx="0">
            <a:schemeClr val="dk1"/>
          </a:fillRef>
          <a:effectRef idx="0">
            <a:schemeClr val="dk1"/>
          </a:effectRef>
          <a:fontRef idx="minor">
            <a:schemeClr val="tx1"/>
          </a:fontRef>
        </p:style>
      </p:cxnSp>
      <p:sp>
        <p:nvSpPr>
          <p:cNvPr id="74" name="Rectangle 73">
            <a:extLst>
              <a:ext uri="{FF2B5EF4-FFF2-40B4-BE49-F238E27FC236}">
                <a16:creationId xmlns:a16="http://schemas.microsoft.com/office/drawing/2014/main" id="{B9C97F33-91A9-6A28-88C4-06BF64838708}"/>
              </a:ext>
            </a:extLst>
          </p:cNvPr>
          <p:cNvSpPr/>
          <p:nvPr/>
        </p:nvSpPr>
        <p:spPr>
          <a:xfrm>
            <a:off x="4405888" y="6268193"/>
            <a:ext cx="3019040" cy="3828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Error Handler</a:t>
            </a:r>
          </a:p>
        </p:txBody>
      </p:sp>
      <p:sp>
        <p:nvSpPr>
          <p:cNvPr id="76" name="Rectangle 75">
            <a:extLst>
              <a:ext uri="{FF2B5EF4-FFF2-40B4-BE49-F238E27FC236}">
                <a16:creationId xmlns:a16="http://schemas.microsoft.com/office/drawing/2014/main" id="{9675C464-F20E-8126-1B52-EF783EA08256}"/>
              </a:ext>
            </a:extLst>
          </p:cNvPr>
          <p:cNvSpPr/>
          <p:nvPr/>
        </p:nvSpPr>
        <p:spPr>
          <a:xfrm>
            <a:off x="4405888" y="999101"/>
            <a:ext cx="3019040" cy="3828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Symbol Table</a:t>
            </a:r>
          </a:p>
        </p:txBody>
      </p:sp>
      <p:cxnSp>
        <p:nvCxnSpPr>
          <p:cNvPr id="78" name="Straight Arrow Connector 77">
            <a:extLst>
              <a:ext uri="{FF2B5EF4-FFF2-40B4-BE49-F238E27FC236}">
                <a16:creationId xmlns:a16="http://schemas.microsoft.com/office/drawing/2014/main" id="{3583440D-D34F-21C2-DE5A-4BBFBAC6B842}"/>
              </a:ext>
            </a:extLst>
          </p:cNvPr>
          <p:cNvCxnSpPr>
            <a:cxnSpLocks/>
            <a:stCxn id="76" idx="2"/>
          </p:cNvCxnSpPr>
          <p:nvPr/>
        </p:nvCxnSpPr>
        <p:spPr>
          <a:xfrm>
            <a:off x="5915408" y="1381920"/>
            <a:ext cx="0" cy="71710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0CD082FC-B7D3-952A-83BB-AE7D0769B0E5}"/>
              </a:ext>
            </a:extLst>
          </p:cNvPr>
          <p:cNvCxnSpPr>
            <a:cxnSpLocks/>
          </p:cNvCxnSpPr>
          <p:nvPr/>
        </p:nvCxnSpPr>
        <p:spPr>
          <a:xfrm>
            <a:off x="5915408" y="5548728"/>
            <a:ext cx="0" cy="71710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8316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07C52-21AD-B700-16E8-B29B9998D56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4E070C5-B69E-E7C3-062A-B8FFAD50808C}"/>
              </a:ext>
            </a:extLst>
          </p:cNvPr>
          <p:cNvSpPr txBox="1"/>
          <p:nvPr/>
        </p:nvSpPr>
        <p:spPr>
          <a:xfrm>
            <a:off x="1464754" y="87975"/>
            <a:ext cx="9262491" cy="646331"/>
          </a:xfrm>
          <a:prstGeom prst="rect">
            <a:avLst/>
          </a:prstGeom>
          <a:noFill/>
        </p:spPr>
        <p:txBody>
          <a:bodyPr wrap="square" rtlCol="0">
            <a:spAutoFit/>
          </a:bodyPr>
          <a:lstStyle/>
          <a:p>
            <a:pPr algn="ctr"/>
            <a:r>
              <a:rPr lang="en-IN" sz="3600" u="sng" dirty="0">
                <a:latin typeface="Calibri" panose="020F0502020204030204" pitchFamily="34" charset="0"/>
                <a:ea typeface="Calibri" panose="020F0502020204030204" pitchFamily="34" charset="0"/>
                <a:cs typeface="Calibri" panose="020F0502020204030204" pitchFamily="34" charset="0"/>
              </a:rPr>
              <a:t>LEXICAL ANALYSIS</a:t>
            </a:r>
          </a:p>
        </p:txBody>
      </p:sp>
      <p:sp>
        <p:nvSpPr>
          <p:cNvPr id="3" name="TextBox 2">
            <a:extLst>
              <a:ext uri="{FF2B5EF4-FFF2-40B4-BE49-F238E27FC236}">
                <a16:creationId xmlns:a16="http://schemas.microsoft.com/office/drawing/2014/main" id="{E04401D1-EC58-5A32-939A-AE0A92136AD5}"/>
              </a:ext>
            </a:extLst>
          </p:cNvPr>
          <p:cNvSpPr txBox="1"/>
          <p:nvPr/>
        </p:nvSpPr>
        <p:spPr>
          <a:xfrm>
            <a:off x="1117091" y="1166842"/>
            <a:ext cx="9957816" cy="369332"/>
          </a:xfrm>
          <a:prstGeom prst="rect">
            <a:avLst/>
          </a:prstGeom>
          <a:noFill/>
        </p:spPr>
        <p:txBody>
          <a:bodyPr wrap="square" rtlCol="0">
            <a:spAutoFit/>
          </a:bodyPr>
          <a:lstStyle/>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86054561"/>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Wisp</Template>
  <TotalTime>2218</TotalTime>
  <Words>508</Words>
  <Application>Microsoft Office PowerPoint</Application>
  <PresentationFormat>Widescreen</PresentationFormat>
  <Paragraphs>44</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Gill Sans MT</vt:lpstr>
      <vt:lpstr>Gallery</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Ishika Bhuin</dc:creator>
  <cp:lastModifiedBy>Ishika Bhuin</cp:lastModifiedBy>
  <cp:revision>3</cp:revision>
  <dcterms:created xsi:type="dcterms:W3CDTF">2025-04-01T18:33:36Z</dcterms:created>
  <dcterms:modified xsi:type="dcterms:W3CDTF">2025-04-09T02:41:41Z</dcterms:modified>
</cp:coreProperties>
</file>